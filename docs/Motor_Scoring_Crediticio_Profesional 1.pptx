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7"/>
  </p:notesMasterIdLst>
  <p:sldIdLst>
    <p:sldId id="256" r:id="rId2"/>
    <p:sldId id="257" r:id="rId3"/>
    <p:sldId id="258" r:id="rId4"/>
    <p:sldId id="284" r:id="rId5"/>
    <p:sldId id="285" r:id="rId6"/>
    <p:sldId id="286" r:id="rId7"/>
    <p:sldId id="287" r:id="rId8"/>
    <p:sldId id="288" r:id="rId9"/>
    <p:sldId id="289" r:id="rId10"/>
    <p:sldId id="290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91" r:id="rId29"/>
    <p:sldId id="277" r:id="rId30"/>
    <p:sldId id="280" r:id="rId31"/>
    <p:sldId id="279" r:id="rId32"/>
    <p:sldId id="281" r:id="rId33"/>
    <p:sldId id="278" r:id="rId34"/>
    <p:sldId id="282" r:id="rId35"/>
    <p:sldId id="283" r:id="rId3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E276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62DACCF-75A8-5965-A63B-E4B3D2545305}" v="29" dt="2026-08-04T00:34:27.04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8" d="100"/>
          <a:sy n="108" d="100"/>
        </p:scale>
        <p:origin x="132" y="3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8/5/2026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Visual on this slide was generated with Microsoft Copilot.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Visual on this slide was generated with Microsoft Copilot.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Visual on this slide was generated with Microsoft Copilot.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Visual on this slide was generated with Microsoft Copilot.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Visual on this slide was generated with Microsoft Copilot.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Visual on this slide was generated with Microsoft Copilot.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6658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bb799df74d.png"/>
          <p:cNvPicPr>
            <a:picLocks noChangeAspect="1"/>
          </p:cNvPicPr>
          <p:nvPr/>
        </p:nvPicPr>
        <p:blipFill>
          <a:blip r:embed="rId3"/>
          <a:srcRect t="7811" b="781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8626"/>
            <a:ext cx="12191695" cy="6858000"/>
          </a:xfrm>
          <a:prstGeom prst="rect">
            <a:avLst/>
          </a:prstGeom>
          <a:solidFill>
            <a:srgbClr val="071A2E">
              <a:alpha val="72000"/>
            </a:srgbClr>
          </a:solidFill>
          <a:ln w="12700">
            <a:solidFill>
              <a:srgbClr val="071A2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4" name="Shape 1"/>
          <p:cNvSpPr/>
          <p:nvPr/>
        </p:nvSpPr>
        <p:spPr>
          <a:xfrm>
            <a:off x="640080" y="868680"/>
            <a:ext cx="6629400" cy="4434840"/>
          </a:xfrm>
          <a:prstGeom prst="roundRect">
            <a:avLst/>
          </a:prstGeom>
          <a:solidFill>
            <a:srgbClr val="071A2E">
              <a:alpha val="88000"/>
            </a:srgbClr>
          </a:solidFill>
          <a:ln w="17780">
            <a:solidFill>
              <a:srgbClr val="16C7E8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5" name="Text 2"/>
          <p:cNvSpPr/>
          <p:nvPr/>
        </p:nvSpPr>
        <p:spPr>
          <a:xfrm>
            <a:off x="960120" y="1234440"/>
            <a:ext cx="5943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</a:rPr>
              <a:t>MOTOR DE</a:t>
            </a:r>
            <a:endParaRPr lang="en-US" sz="3100" dirty="0"/>
          </a:p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</a:rPr>
              <a:t>SCORING CREDITICIO</a:t>
            </a:r>
            <a:endParaRPr lang="en-US" sz="3100" dirty="0"/>
          </a:p>
        </p:txBody>
      </p:sp>
      <p:sp>
        <p:nvSpPr>
          <p:cNvPr id="6" name="Text 3"/>
          <p:cNvSpPr/>
          <p:nvPr/>
        </p:nvSpPr>
        <p:spPr>
          <a:xfrm>
            <a:off x="987552" y="3090672"/>
            <a:ext cx="5623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 err="1">
                <a:solidFill>
                  <a:srgbClr val="DDEEFF"/>
                </a:solidFill>
              </a:rPr>
              <a:t>Arquitectura</a:t>
            </a:r>
            <a:r>
              <a:rPr lang="en-US" sz="1700" dirty="0">
                <a:solidFill>
                  <a:srgbClr val="DDEEFF"/>
                </a:solidFill>
              </a:rPr>
              <a:t> Hexagonal + Spring Boot + H2 / MongoDB</a:t>
            </a:r>
            <a:endParaRPr lang="en-US" sz="1700" dirty="0">
              <a:solidFill>
                <a:srgbClr val="000000"/>
              </a:solidFill>
            </a:endParaRPr>
          </a:p>
          <a:p>
            <a:endParaRPr lang="en-US" sz="1700" dirty="0">
              <a:solidFill>
                <a:srgbClr val="DDEEFF"/>
              </a:solidFill>
            </a:endParaRPr>
          </a:p>
          <a:p>
            <a:r>
              <a:rPr lang="en-US" sz="1700" dirty="0">
                <a:solidFill>
                  <a:srgbClr val="DDEEFF"/>
                </a:solidFill>
              </a:rPr>
              <a:t>José Julca</a:t>
            </a:r>
          </a:p>
          <a:p>
            <a:r>
              <a:rPr lang="en-US" sz="1700" dirty="0">
                <a:solidFill>
                  <a:srgbClr val="DDEEFF"/>
                </a:solidFill>
              </a:rPr>
              <a:t>Jose </a:t>
            </a:r>
            <a:r>
              <a:rPr lang="en-US" sz="1700" dirty="0" err="1">
                <a:solidFill>
                  <a:srgbClr val="DDEEFF"/>
                </a:solidFill>
              </a:rPr>
              <a:t>huaman</a:t>
            </a:r>
            <a:endParaRPr lang="en-US" sz="1700" dirty="0">
              <a:solidFill>
                <a:srgbClr val="DDEEFF"/>
              </a:solidFill>
            </a:endParaRPr>
          </a:p>
          <a:p>
            <a:r>
              <a:rPr lang="en-US" sz="1700" dirty="0">
                <a:solidFill>
                  <a:srgbClr val="DDEEFF"/>
                </a:solidFill>
              </a:rPr>
              <a:t>Jonathan Barrientos</a:t>
            </a:r>
          </a:p>
        </p:txBody>
      </p:sp>
      <p:sp>
        <p:nvSpPr>
          <p:cNvPr id="7" name="Text 4"/>
          <p:cNvSpPr/>
          <p:nvPr/>
        </p:nvSpPr>
        <p:spPr>
          <a:xfrm>
            <a:off x="987552" y="4133088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10" dirty="0">
                <a:solidFill>
                  <a:srgbClr val="16C7E8"/>
                </a:solidFill>
              </a:rPr>
              <a:t>TECNOLOGÍA   |   ESCALABILIDAD   |   MANTENIBILIDAD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987552" y="4091085"/>
            <a:ext cx="1143000" cy="0"/>
          </a:xfrm>
          <a:prstGeom prst="line">
            <a:avLst/>
          </a:prstGeom>
          <a:noFill/>
          <a:ln w="50800">
            <a:solidFill>
              <a:srgbClr val="F4B942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6C7E8"/>
          </a:solidFill>
          <a:ln w="12700">
            <a:solidFill>
              <a:srgbClr val="16C7E8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71A2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Índice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1155680" y="34747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B5CAB"/>
                </a:solidFill>
              </a:rPr>
              <a:t>02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21208" y="75895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40" dirty="0">
                <a:solidFill>
                  <a:srgbClr val="16C7E8"/>
                </a:solidFill>
              </a:rPr>
              <a:t>RUTA DE LA PRESENTACIÓN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685800" y="1143000"/>
            <a:ext cx="438912" cy="438912"/>
          </a:xfrm>
          <a:prstGeom prst="ellipse">
            <a:avLst/>
          </a:prstGeom>
          <a:solidFill>
            <a:srgbClr val="0B5CA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7" name="Text 5"/>
          <p:cNvSpPr/>
          <p:nvPr/>
        </p:nvSpPr>
        <p:spPr>
          <a:xfrm>
            <a:off x="704088" y="1243584"/>
            <a:ext cx="402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307592" y="120700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52238"/>
                </a:solidFill>
              </a:rPr>
              <a:t>Motor de Scoring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85800" y="2075688"/>
            <a:ext cx="438912" cy="438912"/>
          </a:xfrm>
          <a:prstGeom prst="ellipse">
            <a:avLst/>
          </a:prstGeom>
          <a:solidFill>
            <a:srgbClr val="0B5CA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0" name="Text 8"/>
          <p:cNvSpPr/>
          <p:nvPr/>
        </p:nvSpPr>
        <p:spPr>
          <a:xfrm>
            <a:off x="704088" y="2176272"/>
            <a:ext cx="402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307592" y="2139696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52238"/>
                </a:solidFill>
              </a:rPr>
              <a:t>Arquitectura Hexagonal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85800" y="3008376"/>
            <a:ext cx="438912" cy="438912"/>
          </a:xfrm>
          <a:prstGeom prst="ellipse">
            <a:avLst/>
          </a:prstGeom>
          <a:solidFill>
            <a:srgbClr val="0B5CA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3" name="Text 11"/>
          <p:cNvSpPr/>
          <p:nvPr/>
        </p:nvSpPr>
        <p:spPr>
          <a:xfrm>
            <a:off x="704088" y="3108960"/>
            <a:ext cx="402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307592" y="3072384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52238"/>
                </a:solidFill>
              </a:rPr>
              <a:t>Doble Adaptador: H2 / Mongo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85800" y="3941064"/>
            <a:ext cx="438912" cy="438912"/>
          </a:xfrm>
          <a:prstGeom prst="ellipse">
            <a:avLst/>
          </a:prstGeom>
          <a:solidFill>
            <a:srgbClr val="0B5CA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6" name="Text 14"/>
          <p:cNvSpPr/>
          <p:nvPr/>
        </p:nvSpPr>
        <p:spPr>
          <a:xfrm>
            <a:off x="704088" y="4041648"/>
            <a:ext cx="402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307592" y="400507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52238"/>
                </a:solidFill>
              </a:rPr>
              <a:t>Stack Tecnológico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85800" y="4873752"/>
            <a:ext cx="438912" cy="438912"/>
          </a:xfrm>
          <a:prstGeom prst="ellipse">
            <a:avLst/>
          </a:prstGeom>
          <a:solidFill>
            <a:srgbClr val="0B5CA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9" name="Text 17"/>
          <p:cNvSpPr/>
          <p:nvPr/>
        </p:nvSpPr>
        <p:spPr>
          <a:xfrm>
            <a:off x="704088" y="4974336"/>
            <a:ext cx="402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307592" y="493776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52238"/>
                </a:solidFill>
              </a:rPr>
              <a:t>Hexagonal vs Onion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355080" y="1143000"/>
            <a:ext cx="438912" cy="438912"/>
          </a:xfrm>
          <a:prstGeom prst="ellipse">
            <a:avLst/>
          </a:prstGeom>
          <a:solidFill>
            <a:srgbClr val="20C99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2" name="Text 20"/>
          <p:cNvSpPr/>
          <p:nvPr/>
        </p:nvSpPr>
        <p:spPr>
          <a:xfrm>
            <a:off x="6373368" y="1243584"/>
            <a:ext cx="402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6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976872" y="120700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52238"/>
                </a:solidFill>
              </a:rPr>
              <a:t>Componentes Principales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355080" y="2075688"/>
            <a:ext cx="438912" cy="438912"/>
          </a:xfrm>
          <a:prstGeom prst="ellipse">
            <a:avLst/>
          </a:prstGeom>
          <a:solidFill>
            <a:srgbClr val="20C99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5" name="Text 23"/>
          <p:cNvSpPr/>
          <p:nvPr/>
        </p:nvSpPr>
        <p:spPr>
          <a:xfrm>
            <a:off x="6373368" y="2176272"/>
            <a:ext cx="402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7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976872" y="2139696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52238"/>
                </a:solidFill>
              </a:rPr>
              <a:t>Flujo de Datos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6355080" y="3008376"/>
            <a:ext cx="438912" cy="438912"/>
          </a:xfrm>
          <a:prstGeom prst="ellipse">
            <a:avLst/>
          </a:prstGeom>
          <a:solidFill>
            <a:srgbClr val="20C99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8" name="Text 26"/>
          <p:cNvSpPr/>
          <p:nvPr/>
        </p:nvSpPr>
        <p:spPr>
          <a:xfrm>
            <a:off x="6373368" y="3108960"/>
            <a:ext cx="402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8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976872" y="3072384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52238"/>
                </a:solidFill>
              </a:rPr>
              <a:t>Ventajas y Desafíos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6355080" y="3941064"/>
            <a:ext cx="438912" cy="438912"/>
          </a:xfrm>
          <a:prstGeom prst="ellipse">
            <a:avLst/>
          </a:prstGeom>
          <a:solidFill>
            <a:srgbClr val="20C99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1" name="Text 29"/>
          <p:cNvSpPr/>
          <p:nvPr/>
        </p:nvSpPr>
        <p:spPr>
          <a:xfrm>
            <a:off x="6373368" y="4041648"/>
            <a:ext cx="402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9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976872" y="400507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52238"/>
                </a:solidFill>
              </a:rPr>
              <a:t>Demo / Ejemplo Real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502920" y="6528816"/>
            <a:ext cx="5486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D8A9A"/>
                </a:solidFill>
              </a:rPr>
              <a:t>Motor de Scoring Crediticio  |  Arquitectura Hexagonal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6C7E8"/>
          </a:solidFill>
          <a:ln w="12700">
            <a:solidFill>
              <a:srgbClr val="16C7E8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71A2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¿Qué es un motor de scoring?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1155680" y="34747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B5CAB"/>
                </a:solidFill>
              </a:rPr>
              <a:t>03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21208" y="75895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40" dirty="0">
                <a:solidFill>
                  <a:srgbClr val="16C7E8"/>
                </a:solidFill>
              </a:rPr>
              <a:t>CONTEXTO DE NEGOCIO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94360" y="1097280"/>
            <a:ext cx="3383280" cy="4526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7" name="Shape 5"/>
          <p:cNvSpPr/>
          <p:nvPr/>
        </p:nvSpPr>
        <p:spPr>
          <a:xfrm>
            <a:off x="594360" y="1097280"/>
            <a:ext cx="64008" cy="4526280"/>
          </a:xfrm>
          <a:prstGeom prst="rect">
            <a:avLst/>
          </a:prstGeom>
          <a:solidFill>
            <a:srgbClr val="0B5CAB"/>
          </a:solidFill>
          <a:ln w="12700">
            <a:solidFill>
              <a:srgbClr val="0B5CAB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8" name="Text 6"/>
          <p:cNvSpPr/>
          <p:nvPr/>
        </p:nvSpPr>
        <p:spPr>
          <a:xfrm>
            <a:off x="795528" y="1261872"/>
            <a:ext cx="2999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71A2E"/>
                </a:solidFill>
              </a:rPr>
              <a:t>DEFINICIÓN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95528" y="1627632"/>
            <a:ext cx="2999232" cy="3867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r>
              <a:rPr lang="en-US" sz="1150" dirty="0">
                <a:solidFill>
                  <a:srgbClr val="5D6B7E"/>
                </a:solidFill>
              </a:rPr>
              <a:t>Sistema que evalúa riesgo crediticio</a:t>
            </a:r>
            <a:endParaRPr lang="en-US" sz="1150" dirty="0"/>
          </a:p>
          <a:p>
            <a:r>
              <a:rPr lang="en-US" sz="1150" dirty="0">
                <a:solidFill>
                  <a:srgbClr val="5D6B7E"/>
                </a:solidFill>
              </a:rPr>
              <a:t>Calcula puntajes automáticamente</a:t>
            </a:r>
            <a:endParaRPr lang="en-US" sz="1150" dirty="0"/>
          </a:p>
          <a:p>
            <a:r>
              <a:rPr lang="en-US" sz="1150" dirty="0">
                <a:solidFill>
                  <a:srgbClr val="5D6B7E"/>
                </a:solidFill>
              </a:rPr>
              <a:t>Decide: PREAPROBADA / REVISION_MANUAL / RECHAZADA</a:t>
            </a:r>
            <a:endParaRPr lang="en-US" sz="1150" dirty="0"/>
          </a:p>
          <a:p>
            <a:r>
              <a:rPr lang="en-US" sz="1150" dirty="0">
                <a:solidFill>
                  <a:srgbClr val="5D6B7E"/>
                </a:solidFill>
              </a:rPr>
              <a:t>Combina múltiples factores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43400" y="1097280"/>
            <a:ext cx="3383280" cy="4526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11" name="Shape 9"/>
          <p:cNvSpPr/>
          <p:nvPr/>
        </p:nvSpPr>
        <p:spPr>
          <a:xfrm>
            <a:off x="4343400" y="1097280"/>
            <a:ext cx="64008" cy="4526280"/>
          </a:xfrm>
          <a:prstGeom prst="rect">
            <a:avLst/>
          </a:prstGeom>
          <a:solidFill>
            <a:srgbClr val="8667E8"/>
          </a:solidFill>
          <a:ln w="12700">
            <a:solidFill>
              <a:srgbClr val="8667E8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2" name="Text 10"/>
          <p:cNvSpPr/>
          <p:nvPr/>
        </p:nvSpPr>
        <p:spPr>
          <a:xfrm>
            <a:off x="4544568" y="1261872"/>
            <a:ext cx="2999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71A2E"/>
                </a:solidFill>
              </a:rPr>
              <a:t>FACTORES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44568" y="1627632"/>
            <a:ext cx="2999232" cy="3867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r>
              <a:rPr lang="en-US" sz="1150" dirty="0">
                <a:solidFill>
                  <a:srgbClr val="5D6B7E"/>
                </a:solidFill>
              </a:rPr>
              <a:t>Historial de pagos</a:t>
            </a:r>
            <a:endParaRPr lang="en-US" sz="1150" dirty="0"/>
          </a:p>
          <a:p>
            <a:r>
              <a:rPr lang="en-US" sz="1150" dirty="0">
                <a:solidFill>
                  <a:srgbClr val="5D6B7E"/>
                </a:solidFill>
              </a:rPr>
              <a:t>Ingresos y gastos</a:t>
            </a:r>
            <a:endParaRPr lang="en-US" sz="1150" dirty="0"/>
          </a:p>
          <a:p>
            <a:r>
              <a:rPr lang="en-US" sz="1150" dirty="0">
                <a:solidFill>
                  <a:srgbClr val="5D6B7E"/>
                </a:solidFill>
              </a:rPr>
              <a:t>Obligaciones activas</a:t>
            </a:r>
            <a:endParaRPr lang="en-US" sz="1150" dirty="0"/>
          </a:p>
          <a:p>
            <a:r>
              <a:rPr lang="en-US" sz="1150" dirty="0">
                <a:solidFill>
                  <a:srgbClr val="5D6B7E"/>
                </a:solidFill>
              </a:rPr>
              <a:t>Antigüedad laboral</a:t>
            </a:r>
            <a:endParaRPr lang="en-US" sz="1150" dirty="0"/>
          </a:p>
          <a:p>
            <a:r>
              <a:rPr lang="en-US" sz="1150" dirty="0">
                <a:solidFill>
                  <a:srgbClr val="5D6B7E"/>
                </a:solidFill>
              </a:rPr>
              <a:t>Alertas de mora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092440" y="1097280"/>
            <a:ext cx="3474720" cy="4526280"/>
          </a:xfrm>
          <a:prstGeom prst="roundRect">
            <a:avLst/>
          </a:prstGeom>
          <a:solidFill>
            <a:srgbClr val="071A2E"/>
          </a:solidFill>
          <a:ln w="12700">
            <a:solidFill>
              <a:srgbClr val="071A2E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5" name="Text 13"/>
          <p:cNvSpPr/>
          <p:nvPr/>
        </p:nvSpPr>
        <p:spPr>
          <a:xfrm>
            <a:off x="9052560" y="160020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dirty="0">
                <a:solidFill>
                  <a:srgbClr val="000000"/>
                </a:solidFill>
              </a:rPr>
              <a:t>⚡</a:t>
            </a:r>
            <a:endParaRPr lang="en-US" sz="4800" dirty="0"/>
          </a:p>
        </p:txBody>
      </p:sp>
      <p:sp>
        <p:nvSpPr>
          <p:cNvPr id="16" name="Text 14"/>
          <p:cNvSpPr/>
          <p:nvPr/>
        </p:nvSpPr>
        <p:spPr>
          <a:xfrm>
            <a:off x="8549640" y="278892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DECISIONES EN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SEGUNDOS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8549640" y="397764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FE8FF"/>
                </a:solidFill>
              </a:rPr>
              <a:t>Automatización consistente, auditable y escalable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2920" y="6528816"/>
            <a:ext cx="5486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D8A9A"/>
                </a:solidFill>
              </a:rPr>
              <a:t>Motor de Scoring Crediticio  |  Arquitectura Hexagonal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 DEL PROYECTO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núcleo de dominio aislado de la infraestructura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520440" cy="3246120"/>
          </a:xfrm>
          <a:prstGeom prst="rect">
            <a:avLst/>
          </a:prstGeom>
          <a:solidFill>
            <a:srgbClr val="F4F7FE"/>
          </a:solidFill>
          <a:ln/>
          <a:effectLst>
            <a:outerShdw blurRad="127000" dist="381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5" name="Text 3"/>
          <p:cNvSpPr/>
          <p:nvPr/>
        </p:nvSpPr>
        <p:spPr>
          <a:xfrm>
            <a:off x="822960" y="2286000"/>
            <a:ext cx="2971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822960" y="333756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módulos Maven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822960" y="3840480"/>
            <a:ext cx="548640" cy="32004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8" name="Text 6"/>
          <p:cNvSpPr/>
          <p:nvPr/>
        </p:nvSpPr>
        <p:spPr>
          <a:xfrm>
            <a:off x="822960" y="4023360"/>
            <a:ext cx="2971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uno con una responsabilidad de puerto o adaptador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89120" y="1965960"/>
            <a:ext cx="3520440" cy="3246120"/>
          </a:xfrm>
          <a:prstGeom prst="rect">
            <a:avLst/>
          </a:prstGeom>
          <a:solidFill>
            <a:srgbClr val="F4F7FE"/>
          </a:solidFill>
          <a:ln/>
          <a:effectLst>
            <a:outerShdw blurRad="127000" dist="381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10" name="Text 8"/>
          <p:cNvSpPr/>
          <p:nvPr/>
        </p:nvSpPr>
        <p:spPr>
          <a:xfrm>
            <a:off x="4663440" y="2286000"/>
            <a:ext cx="2971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6400" dirty="0"/>
          </a:p>
        </p:txBody>
      </p:sp>
      <p:sp>
        <p:nvSpPr>
          <p:cNvPr id="11" name="Text 9"/>
          <p:cNvSpPr/>
          <p:nvPr/>
        </p:nvSpPr>
        <p:spPr>
          <a:xfrm>
            <a:off x="4663440" y="333756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puertos de salida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4663440" y="3840480"/>
            <a:ext cx="548640" cy="32004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3" name="Text 11"/>
          <p:cNvSpPr/>
          <p:nvPr/>
        </p:nvSpPr>
        <p:spPr>
          <a:xfrm>
            <a:off x="4663440" y="4023360"/>
            <a:ext cx="2971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interfaces Repository definidas una única vez en el dominio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229600" y="1965960"/>
            <a:ext cx="3520440" cy="3246120"/>
          </a:xfrm>
          <a:prstGeom prst="rect">
            <a:avLst/>
          </a:prstGeom>
          <a:solidFill>
            <a:srgbClr val="F4F7FE"/>
          </a:solidFill>
          <a:ln/>
          <a:effectLst>
            <a:outerShdw blurRad="127000" dist="381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15" name="Text 13"/>
          <p:cNvSpPr/>
          <p:nvPr/>
        </p:nvSpPr>
        <p:spPr>
          <a:xfrm>
            <a:off x="8503920" y="2286000"/>
            <a:ext cx="2971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6400" dirty="0"/>
          </a:p>
        </p:txBody>
      </p:sp>
      <p:sp>
        <p:nvSpPr>
          <p:cNvPr id="16" name="Text 14"/>
          <p:cNvSpPr/>
          <p:nvPr/>
        </p:nvSpPr>
        <p:spPr>
          <a:xfrm>
            <a:off x="8503920" y="333756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adaptadores por puerto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8503920" y="3840480"/>
            <a:ext cx="548640" cy="32004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8" name="Text 16"/>
          <p:cNvSpPr/>
          <p:nvPr/>
        </p:nvSpPr>
        <p:spPr>
          <a:xfrm>
            <a:off x="8503920" y="4023360"/>
            <a:ext cx="2971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H2/JPA y MongoDB, intercambiables sin recompilar el dominio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de Scoring Crediticio  ·  Arquitectura Hexagonal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dominio en el centro, los adaptadores afuera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0" y="1481328"/>
            <a:ext cx="3474720" cy="530352"/>
          </a:xfrm>
          <a:prstGeom prst="roundRect">
            <a:avLst>
              <a:gd name="adj" fmla="val 12069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5" name="Text 3"/>
          <p:cNvSpPr/>
          <p:nvPr/>
        </p:nvSpPr>
        <p:spPr>
          <a:xfrm>
            <a:off x="4572000" y="1481328"/>
            <a:ext cx="3474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Adaptador de entrada — REST Controller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172200" y="2048256"/>
            <a:ext cx="274320" cy="237744"/>
          </a:xfrm>
          <a:prstGeom prst="downArrow">
            <a:avLst/>
          </a:prstGeom>
          <a:solidFill>
            <a:srgbClr val="5B6485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7" name="Shape 5"/>
          <p:cNvSpPr/>
          <p:nvPr/>
        </p:nvSpPr>
        <p:spPr>
          <a:xfrm>
            <a:off x="4937760" y="2286000"/>
            <a:ext cx="2743200" cy="2377440"/>
          </a:xfrm>
          <a:prstGeom prst="hexagon">
            <a:avLst/>
          </a:prstGeom>
          <a:solidFill>
            <a:srgbClr val="1E2761"/>
          </a:solidFill>
          <a:ln w="25400">
            <a:solidFill>
              <a:srgbClr val="141A45"/>
            </a:solidFill>
            <a:prstDash val="solid"/>
          </a:ln>
          <a:effectLst>
            <a:outerShdw blurRad="177800" dist="50800" dir="5400000" algn="bl" rotWithShape="0">
              <a:srgbClr val="1E2761">
                <a:alpha val="25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8" name="Text 6"/>
          <p:cNvSpPr/>
          <p:nvPr/>
        </p:nvSpPr>
        <p:spPr>
          <a:xfrm>
            <a:off x="5029200" y="301752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DOMAIN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029200" y="3419856"/>
            <a:ext cx="2560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Entidades · Value Objects</a:t>
            </a:r>
            <a:endParaRPr lang="en-US" sz="105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Reglas de scoring</a:t>
            </a:r>
            <a:endParaRPr lang="en-US" sz="105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puertos Repository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343400" y="4617720"/>
            <a:ext cx="274320" cy="384048"/>
          </a:xfrm>
          <a:prstGeom prst="downArrow">
            <a:avLst/>
          </a:prstGeom>
          <a:solidFill>
            <a:srgbClr val="D98E04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1" name="Shape 9"/>
          <p:cNvSpPr/>
          <p:nvPr/>
        </p:nvSpPr>
        <p:spPr>
          <a:xfrm>
            <a:off x="8001000" y="4617720"/>
            <a:ext cx="274320" cy="384048"/>
          </a:xfrm>
          <a:prstGeom prst="downArrow">
            <a:avLst/>
          </a:prstGeom>
          <a:solidFill>
            <a:srgbClr val="12A594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2" name="Shape 10"/>
          <p:cNvSpPr/>
          <p:nvPr/>
        </p:nvSpPr>
        <p:spPr>
          <a:xfrm>
            <a:off x="640080" y="5074920"/>
            <a:ext cx="2743200" cy="960120"/>
          </a:xfrm>
          <a:prstGeom prst="roundRect">
            <a:avLst>
              <a:gd name="adj" fmla="val 6667"/>
            </a:avLst>
          </a:prstGeom>
          <a:solidFill>
            <a:srgbClr val="F4F7FE"/>
          </a:solidFill>
          <a:ln w="19050">
            <a:solidFill>
              <a:srgbClr val="D98E04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3" name="Text 11"/>
          <p:cNvSpPr/>
          <p:nvPr/>
        </p:nvSpPr>
        <p:spPr>
          <a:xfrm>
            <a:off x="640080" y="516636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 · H2 / JPA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40080" y="5477256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motor-scoring-infrastructure</a:t>
            </a:r>
            <a:endParaRPr lang="en-US" sz="10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profile: h2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778240" y="5074920"/>
            <a:ext cx="2743200" cy="960120"/>
          </a:xfrm>
          <a:prstGeom prst="roundRect">
            <a:avLst>
              <a:gd name="adj" fmla="val 6667"/>
            </a:avLst>
          </a:prstGeom>
          <a:solidFill>
            <a:srgbClr val="F4F7FE"/>
          </a:solidFill>
          <a:ln w="19050">
            <a:solidFill>
              <a:srgbClr val="12A594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6" name="Text 14"/>
          <p:cNvSpPr/>
          <p:nvPr/>
        </p:nvSpPr>
        <p:spPr>
          <a:xfrm>
            <a:off x="8778240" y="516636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2A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 · MongoDB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778240" y="5477256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motor-scoring-adapter-out-mongodb</a:t>
            </a:r>
            <a:endParaRPr lang="en-US" sz="10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profile: mongodb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48640" y="617220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dominio define los puertos una sola vez; cada adaptador los implementa a su manera. Ninguno depende del otro.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de Scoring Crediticio  ·  Arquitectura Hexagonal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 DETALLADA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Mapa completo: módulos, puertos y adaptadores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234794" y="1179576"/>
            <a:ext cx="7722108" cy="5184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2F5"/>
            </a:solidFill>
            <a:prstDash val="solid"/>
          </a:ln>
          <a:effectLst>
            <a:outerShdw blurRad="152400" dist="38100" dir="5400000" algn="bl" rotWithShape="0">
              <a:srgbClr val="1E2761">
                <a:alpha val="15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pic>
        <p:nvPicPr>
          <p:cNvPr id="5" name="Image 0" descr="/home/claude/ppt/assets/Diagrama_Arquitectura_Hexago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9658" y="1234440"/>
            <a:ext cx="7612380" cy="5074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de Scoring Crediticio  ·  Arquitectura Hexagonal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ORGANIZACIÓN DEL CÓDIGO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 módulo Maven, un rol hexagonal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611880" cy="1783080"/>
          </a:xfrm>
          <a:prstGeom prst="rect">
            <a:avLst/>
          </a:prstGeom>
          <a:solidFill>
            <a:srgbClr val="F4F7FE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73152" cy="178308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6" name="Text 4"/>
          <p:cNvSpPr/>
          <p:nvPr/>
        </p:nvSpPr>
        <p:spPr>
          <a:xfrm>
            <a:off x="822960" y="2039112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domain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2441448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Núcleo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22960" y="2807208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Entidades, VOs y los 5 puertos de salida (Repository)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43400" y="1874520"/>
            <a:ext cx="3611880" cy="1783080"/>
          </a:xfrm>
          <a:prstGeom prst="rect">
            <a:avLst/>
          </a:prstGeom>
          <a:solidFill>
            <a:srgbClr val="F4F7FE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0" name="Shape 8"/>
          <p:cNvSpPr/>
          <p:nvPr/>
        </p:nvSpPr>
        <p:spPr>
          <a:xfrm>
            <a:off x="4343400" y="1874520"/>
            <a:ext cx="73152" cy="178308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1" name="Text 9"/>
          <p:cNvSpPr/>
          <p:nvPr/>
        </p:nvSpPr>
        <p:spPr>
          <a:xfrm>
            <a:off x="4617720" y="2039112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application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617720" y="2441448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de uso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617720" y="2807208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Puertos de entrada (UseCase) y sus Service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138160" y="1874520"/>
            <a:ext cx="3611880" cy="1783080"/>
          </a:xfrm>
          <a:prstGeom prst="rect">
            <a:avLst/>
          </a:prstGeom>
          <a:solidFill>
            <a:srgbClr val="F4F7FE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5" name="Shape 13"/>
          <p:cNvSpPr/>
          <p:nvPr/>
        </p:nvSpPr>
        <p:spPr>
          <a:xfrm>
            <a:off x="8138160" y="1874520"/>
            <a:ext cx="73152" cy="178308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6" name="Text 14"/>
          <p:cNvSpPr/>
          <p:nvPr/>
        </p:nvSpPr>
        <p:spPr>
          <a:xfrm>
            <a:off x="8412480" y="2039112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presentation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412480" y="2441448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Adaptador de entrada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412480" y="2807208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Controller, DTOs, manejo de errores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3886200"/>
            <a:ext cx="3611880" cy="1783080"/>
          </a:xfrm>
          <a:prstGeom prst="rect">
            <a:avLst/>
          </a:prstGeom>
          <a:solidFill>
            <a:srgbClr val="F4F7FE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20" name="Shape 18"/>
          <p:cNvSpPr/>
          <p:nvPr/>
        </p:nvSpPr>
        <p:spPr>
          <a:xfrm>
            <a:off x="548640" y="3886200"/>
            <a:ext cx="73152" cy="178308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21" name="Text 19"/>
          <p:cNvSpPr/>
          <p:nvPr/>
        </p:nvSpPr>
        <p:spPr>
          <a:xfrm>
            <a:off x="822960" y="4050792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infrastructure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22960" y="4453128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Adaptador de salida — H2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822960" y="4818888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 los puertos contra JPA / H2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343400" y="3886200"/>
            <a:ext cx="3611880" cy="1783080"/>
          </a:xfrm>
          <a:prstGeom prst="rect">
            <a:avLst/>
          </a:prstGeom>
          <a:solidFill>
            <a:srgbClr val="F4F7FE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25" name="Shape 23"/>
          <p:cNvSpPr/>
          <p:nvPr/>
        </p:nvSpPr>
        <p:spPr>
          <a:xfrm>
            <a:off x="4343400" y="3886200"/>
            <a:ext cx="73152" cy="178308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26" name="Text 24"/>
          <p:cNvSpPr/>
          <p:nvPr/>
        </p:nvSpPr>
        <p:spPr>
          <a:xfrm>
            <a:off x="4617720" y="4050792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adapter-out-mongodb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4617720" y="4453128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Adaptador de salida — Mongo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617720" y="4818888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 los puertos contra MongoDB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138160" y="3886200"/>
            <a:ext cx="3611880" cy="1783080"/>
          </a:xfrm>
          <a:prstGeom prst="rect">
            <a:avLst/>
          </a:prstGeom>
          <a:solidFill>
            <a:srgbClr val="F4F7FE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0" name="Shape 28"/>
          <p:cNvSpPr/>
          <p:nvPr/>
        </p:nvSpPr>
        <p:spPr>
          <a:xfrm>
            <a:off x="8138160" y="3886200"/>
            <a:ext cx="73152" cy="178308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1" name="Text 29"/>
          <p:cNvSpPr/>
          <p:nvPr/>
        </p:nvSpPr>
        <p:spPr>
          <a:xfrm>
            <a:off x="8412480" y="4050792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bootstrap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8412480" y="4453128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Composition Root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8412480" y="4818888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Ensambla todo; el profile activo elige el adaptador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de Scoring Crediticio  ·  Arquitectura Hexagonal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CONTRATO DEL DOMINIO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puertos de salida — un único contrato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5" name="Text 3"/>
          <p:cNvSpPr/>
          <p:nvPr/>
        </p:nvSpPr>
        <p:spPr>
          <a:xfrm>
            <a:off x="640080" y="20116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88720" y="196596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SolicitanteRepository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188720" y="2404872"/>
            <a:ext cx="5120640" cy="10973"/>
          </a:xfrm>
          <a:prstGeom prst="rect">
            <a:avLst/>
          </a:prstGeom>
          <a:solidFill>
            <a:srgbClr val="DCE2F5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8" name="Shape 6"/>
          <p:cNvSpPr/>
          <p:nvPr/>
        </p:nvSpPr>
        <p:spPr>
          <a:xfrm>
            <a:off x="640080" y="2670048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9" name="Text 7"/>
          <p:cNvSpPr/>
          <p:nvPr/>
        </p:nvSpPr>
        <p:spPr>
          <a:xfrm>
            <a:off x="640080" y="267004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88720" y="2624328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SolicitudCreditoRepository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188720" y="3063240"/>
            <a:ext cx="5120640" cy="10973"/>
          </a:xfrm>
          <a:prstGeom prst="rect">
            <a:avLst/>
          </a:prstGeom>
          <a:solidFill>
            <a:srgbClr val="DCE2F5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2" name="Shape 10"/>
          <p:cNvSpPr/>
          <p:nvPr/>
        </p:nvSpPr>
        <p:spPr>
          <a:xfrm>
            <a:off x="640080" y="3328416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3" name="Text 11"/>
          <p:cNvSpPr/>
          <p:nvPr/>
        </p:nvSpPr>
        <p:spPr>
          <a:xfrm>
            <a:off x="640080" y="332841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88720" y="3282696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ProductoCrediticioRepository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188720" y="3721608"/>
            <a:ext cx="5120640" cy="10973"/>
          </a:xfrm>
          <a:prstGeom prst="rect">
            <a:avLst/>
          </a:prstGeom>
          <a:solidFill>
            <a:srgbClr val="DCE2F5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6" name="Shape 14"/>
          <p:cNvSpPr/>
          <p:nvPr/>
        </p:nvSpPr>
        <p:spPr>
          <a:xfrm>
            <a:off x="640080" y="3986784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7" name="Text 15"/>
          <p:cNvSpPr/>
          <p:nvPr/>
        </p:nvSpPr>
        <p:spPr>
          <a:xfrm>
            <a:off x="640080" y="398678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88720" y="3941064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ModeloScoringRepository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188720" y="4379976"/>
            <a:ext cx="5120640" cy="10973"/>
          </a:xfrm>
          <a:prstGeom prst="rect">
            <a:avLst/>
          </a:prstGeom>
          <a:solidFill>
            <a:srgbClr val="DCE2F5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20" name="Shape 18"/>
          <p:cNvSpPr/>
          <p:nvPr/>
        </p:nvSpPr>
        <p:spPr>
          <a:xfrm>
            <a:off x="640080" y="4645152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21" name="Text 19"/>
          <p:cNvSpPr/>
          <p:nvPr/>
        </p:nvSpPr>
        <p:spPr>
          <a:xfrm>
            <a:off x="640080" y="464515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88720" y="4599432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EvaluacionCrediticiaRepository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1188720" y="5038344"/>
            <a:ext cx="5120640" cy="10973"/>
          </a:xfrm>
          <a:prstGeom prst="rect">
            <a:avLst/>
          </a:prstGeom>
          <a:solidFill>
            <a:srgbClr val="DCE2F5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24" name="Shape 22"/>
          <p:cNvSpPr/>
          <p:nvPr/>
        </p:nvSpPr>
        <p:spPr>
          <a:xfrm>
            <a:off x="6949440" y="1920240"/>
            <a:ext cx="4663440" cy="338328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25" name="Text 23"/>
          <p:cNvSpPr/>
          <p:nvPr/>
        </p:nvSpPr>
        <p:spPr>
          <a:xfrm>
            <a:off x="7269480" y="219456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Definidos una sola vez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7269480" y="2697480"/>
            <a:ext cx="4023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Estas interfaces viven en motor-scoring-domain. El dominio y los casos de uso solo conocen estos nombres — nunca MongoRepository, JpaRepository ni MongoTemplate.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7269480" y="3977640"/>
            <a:ext cx="4023360" cy="10973"/>
          </a:xfrm>
          <a:prstGeom prst="rect">
            <a:avLst/>
          </a:prstGeom>
          <a:solidFill>
            <a:srgbClr val="3B4590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28" name="Text 26"/>
          <p:cNvSpPr/>
          <p:nvPr/>
        </p:nvSpPr>
        <p:spPr>
          <a:xfrm>
            <a:off x="7269480" y="4160520"/>
            <a:ext cx="4023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adaptador (H2 o Mongo) implementa exactamente estas 5 interfaces — es el único punto de contacto entre el dominio y la persistencia.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de Scoring Crediticio  ·  Arquitectura Hexagonal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IMPLEMENTACIONES INTERCAMBIABLES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mismo puerto, dos implementaciones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257800" cy="4160520"/>
          </a:xfrm>
          <a:prstGeom prst="rect">
            <a:avLst/>
          </a:prstGeom>
          <a:solidFill>
            <a:srgbClr val="F4F7FE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5257800" cy="594360"/>
          </a:xfrm>
          <a:prstGeom prst="rect">
            <a:avLst/>
          </a:prstGeom>
          <a:solidFill>
            <a:srgbClr val="D98E04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6" name="Text 4"/>
          <p:cNvSpPr/>
          <p:nvPr/>
        </p:nvSpPr>
        <p:spPr>
          <a:xfrm>
            <a:off x="548640" y="1874520"/>
            <a:ext cx="5257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 — H2 / JPA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68680" y="2651760"/>
            <a:ext cx="4617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motor-scoring-infrastructure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68680" y="3108960"/>
            <a:ext cx="4617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 SolicitanteRepositoryAdapter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68680" y="3566160"/>
            <a:ext cx="4617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 SolicitudCreditoRepositoryAdapter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68680" y="4023360"/>
            <a:ext cx="4617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 ProductoCrediticioRepositoryAdapter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68680" y="4480560"/>
            <a:ext cx="4617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 ModeloScoringRepositoryAdapter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68680" y="4937760"/>
            <a:ext cx="4617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 EvaluacionCrediticiaRepositoryAdapter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68680" y="5394960"/>
            <a:ext cx="4617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Activado por  @Profile("h2")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72200" y="1874520"/>
            <a:ext cx="5257800" cy="4160520"/>
          </a:xfrm>
          <a:prstGeom prst="rect">
            <a:avLst/>
          </a:prstGeom>
          <a:solidFill>
            <a:srgbClr val="F4F7FE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5" name="Shape 13"/>
          <p:cNvSpPr/>
          <p:nvPr/>
        </p:nvSpPr>
        <p:spPr>
          <a:xfrm>
            <a:off x="6172200" y="1874520"/>
            <a:ext cx="5257800" cy="594360"/>
          </a:xfrm>
          <a:prstGeom prst="rect">
            <a:avLst/>
          </a:prstGeom>
          <a:solidFill>
            <a:srgbClr val="12A594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6" name="Text 14"/>
          <p:cNvSpPr/>
          <p:nvPr/>
        </p:nvSpPr>
        <p:spPr>
          <a:xfrm>
            <a:off x="6172200" y="1874520"/>
            <a:ext cx="5257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 — MongoDB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492240" y="2651760"/>
            <a:ext cx="4617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motor-scoring-adapter-out-mongodb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492240" y="3108960"/>
            <a:ext cx="4617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 SolicitanteMongoRepositoryAdapter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92240" y="3566160"/>
            <a:ext cx="4617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 SolicitudCreditoMongoRepositoryAdapter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92240" y="4023360"/>
            <a:ext cx="4617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 ProductoCrediticioMongoRepositoryAdapter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92240" y="4480560"/>
            <a:ext cx="4617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 ModeloScoringMongoRepositoryAdapter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92240" y="4937760"/>
            <a:ext cx="4617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 EvaluacionCrediticiaMongoRepositoryAdapter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92240" y="5394960"/>
            <a:ext cx="4617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Activado por  @Profile("mongodb")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de Scoring Crediticio  ·  Arquitectura Hexagonal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MECANISMO DE SELECCIÓN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profile de Spring decide, nada más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2651760" cy="1188720"/>
          </a:xfrm>
          <a:prstGeom prst="roundRect">
            <a:avLst>
              <a:gd name="adj" fmla="val 6154"/>
            </a:avLst>
          </a:prstGeom>
          <a:solidFill>
            <a:srgbClr val="141A45"/>
          </a:solidFill>
          <a:ln w="12700">
            <a:solidFill>
              <a:srgbClr val="3B4590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5" name="Text 3"/>
          <p:cNvSpPr/>
          <p:nvPr/>
        </p:nvSpPr>
        <p:spPr>
          <a:xfrm>
            <a:off x="822960" y="22860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spring.profiles.active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822960" y="26974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  ó  mongodb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429000" y="2514600"/>
            <a:ext cx="685800" cy="365760"/>
          </a:xfrm>
          <a:prstGeom prst="rightArrow">
            <a:avLst/>
          </a:prstGeom>
          <a:solidFill>
            <a:srgbClr val="5B6485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8" name="Shape 6"/>
          <p:cNvSpPr/>
          <p:nvPr/>
        </p:nvSpPr>
        <p:spPr>
          <a:xfrm>
            <a:off x="4251960" y="1920240"/>
            <a:ext cx="3566160" cy="1554480"/>
          </a:xfrm>
          <a:prstGeom prst="roundRect">
            <a:avLst>
              <a:gd name="adj" fmla="val 4706"/>
            </a:avLst>
          </a:prstGeom>
          <a:solidFill>
            <a:srgbClr val="141A45"/>
          </a:solidFill>
          <a:ln w="12700">
            <a:solidFill>
              <a:srgbClr val="3B4590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9" name="Text 7"/>
          <p:cNvSpPr/>
          <p:nvPr/>
        </p:nvSpPr>
        <p:spPr>
          <a:xfrm>
            <a:off x="4526280" y="2148840"/>
            <a:ext cx="3017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solo instancia</a:t>
            </a:r>
            <a:endParaRPr lang="en-US" sz="13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@Bean cuyo @Profile</a:t>
            </a:r>
            <a:endParaRPr lang="en-US" sz="13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coincide con el activo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955280" y="2514600"/>
            <a:ext cx="640080" cy="365760"/>
          </a:xfrm>
          <a:prstGeom prst="rightArrow">
            <a:avLst/>
          </a:prstGeom>
          <a:solidFill>
            <a:srgbClr val="5B6485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1" name="Shape 9"/>
          <p:cNvSpPr/>
          <p:nvPr/>
        </p:nvSpPr>
        <p:spPr>
          <a:xfrm>
            <a:off x="8732520" y="1828800"/>
            <a:ext cx="2834640" cy="777240"/>
          </a:xfrm>
          <a:prstGeom prst="roundRect">
            <a:avLst>
              <a:gd name="adj" fmla="val 9412"/>
            </a:avLst>
          </a:prstGeom>
          <a:solidFill>
            <a:srgbClr val="D98E04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2" name="Text 10"/>
          <p:cNvSpPr/>
          <p:nvPr/>
        </p:nvSpPr>
        <p:spPr>
          <a:xfrm>
            <a:off x="8915400" y="1883664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Adaptador H2 activo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 ni se carga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732520" y="2743200"/>
            <a:ext cx="2834640" cy="777240"/>
          </a:xfrm>
          <a:prstGeom prst="roundRect">
            <a:avLst>
              <a:gd name="adj" fmla="val 9412"/>
            </a:avLst>
          </a:prstGeom>
          <a:solidFill>
            <a:srgbClr val="12A594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4" name="Text 12"/>
          <p:cNvSpPr/>
          <p:nvPr/>
        </p:nvSpPr>
        <p:spPr>
          <a:xfrm>
            <a:off x="8915400" y="2798064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Adaptador Mongo activo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 ni se carga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0080" y="4160520"/>
            <a:ext cx="10927080" cy="1783080"/>
          </a:xfrm>
          <a:prstGeom prst="rect">
            <a:avLst/>
          </a:prstGeom>
          <a:solidFill>
            <a:srgbClr val="10143A"/>
          </a:solidFill>
          <a:ln w="12700">
            <a:solidFill>
              <a:srgbClr val="3B4590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6" name="Text 14"/>
          <p:cNvSpPr/>
          <p:nvPr/>
        </p:nvSpPr>
        <p:spPr>
          <a:xfrm>
            <a:off x="914400" y="4343400"/>
            <a:ext cx="10332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98E0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@Profile("h2")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14400" y="4645152"/>
            <a:ext cx="10332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8D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JpaPersistenceConfiguration { ... }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14400" y="4946904"/>
            <a:ext cx="10332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14400" y="5248656"/>
            <a:ext cx="10332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A5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@Profile("mongodb")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14400" y="5550408"/>
            <a:ext cx="10332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8D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MongoPersistenceConfiguration { ... }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9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de Scoring Crediticio  ·  Arquitectura Hexagonal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6C7E8"/>
          </a:solidFill>
          <a:ln w="12700">
            <a:solidFill>
              <a:srgbClr val="16C7E8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71A2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Arquitectura Hexagonal: concepto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1155680" y="34747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B5CAB"/>
                </a:solidFill>
              </a:rPr>
              <a:t>04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21208" y="75895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40" dirty="0">
                <a:solidFill>
                  <a:srgbClr val="16C7E8"/>
                </a:solidFill>
              </a:rPr>
              <a:t>PUERTOS Y ADAPTADORES</a:t>
            </a:r>
            <a:endParaRPr lang="en-US" sz="800" dirty="0"/>
          </a:p>
        </p:txBody>
      </p:sp>
      <p:pic>
        <p:nvPicPr>
          <p:cNvPr id="6" name="Image 0" descr="/mnt/data/2d8e2773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386840"/>
            <a:ext cx="6537960" cy="43586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360920" y="1234440"/>
            <a:ext cx="41605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8" name="Shape 5"/>
          <p:cNvSpPr/>
          <p:nvPr/>
        </p:nvSpPr>
        <p:spPr>
          <a:xfrm>
            <a:off x="7360920" y="1234440"/>
            <a:ext cx="64008" cy="1325880"/>
          </a:xfrm>
          <a:prstGeom prst="rect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9" name="Text 6"/>
          <p:cNvSpPr/>
          <p:nvPr/>
        </p:nvSpPr>
        <p:spPr>
          <a:xfrm>
            <a:off x="7562088" y="1399032"/>
            <a:ext cx="3776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71A2E"/>
                </a:solidFill>
              </a:rPr>
              <a:t>PRINCIPIO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562088" y="1764792"/>
            <a:ext cx="3776472" cy="667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D6B7E"/>
                </a:solidFill>
              </a:rPr>
              <a:t>El negocio NO depende de frameworks.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360920" y="2788920"/>
            <a:ext cx="41605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12" name="Shape 9"/>
          <p:cNvSpPr/>
          <p:nvPr/>
        </p:nvSpPr>
        <p:spPr>
          <a:xfrm>
            <a:off x="7360920" y="2788920"/>
            <a:ext cx="64008" cy="1143000"/>
          </a:xfrm>
          <a:prstGeom prst="rect">
            <a:avLst/>
          </a:prstGeom>
          <a:solidFill>
            <a:srgbClr val="20C997"/>
          </a:solidFill>
          <a:ln w="12700">
            <a:solidFill>
              <a:srgbClr val="20C99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3" name="Text 10"/>
          <p:cNvSpPr/>
          <p:nvPr/>
        </p:nvSpPr>
        <p:spPr>
          <a:xfrm>
            <a:off x="7562088" y="2953512"/>
            <a:ext cx="3776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71A2E"/>
                </a:solidFill>
              </a:rPr>
              <a:t>✅ CORRECTO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7562088" y="3319272"/>
            <a:ext cx="3776472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D6B7E"/>
                </a:solidFill>
              </a:rPr>
              <a:t>La infraestructura implementa puertos definidos por el dominio.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360920" y="4160520"/>
            <a:ext cx="41605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16" name="Shape 13"/>
          <p:cNvSpPr/>
          <p:nvPr/>
        </p:nvSpPr>
        <p:spPr>
          <a:xfrm>
            <a:off x="7360920" y="4160520"/>
            <a:ext cx="64008" cy="1143000"/>
          </a:xfrm>
          <a:prstGeom prst="rect">
            <a:avLst/>
          </a:prstGeom>
          <a:solidFill>
            <a:srgbClr val="E85D75"/>
          </a:solidFill>
          <a:ln w="12700">
            <a:solidFill>
              <a:srgbClr val="E85D75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7" name="Text 14"/>
          <p:cNvSpPr/>
          <p:nvPr/>
        </p:nvSpPr>
        <p:spPr>
          <a:xfrm>
            <a:off x="7562088" y="4325112"/>
            <a:ext cx="3776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71A2E"/>
                </a:solidFill>
              </a:rPr>
              <a:t>❌ INCORRECTO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7562088" y="4690872"/>
            <a:ext cx="3776472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D6B7E"/>
                </a:solidFill>
              </a:rPr>
              <a:t>El dominio importa MongoDB, Spring o Kafka.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502920" y="6528816"/>
            <a:ext cx="5486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D8A9A"/>
                </a:solidFill>
              </a:rPr>
              <a:t>Motor de Scoring Crediticio  |  Arquitectura Hexagonal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6C7E8"/>
          </a:solidFill>
          <a:ln w="12700">
            <a:solidFill>
              <a:srgbClr val="16C7E8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71A2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Capas del proyecto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1155680" y="34747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B5CAB"/>
                </a:solidFill>
              </a:rPr>
              <a:t>05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21208" y="75895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40" dirty="0">
                <a:solidFill>
                  <a:srgbClr val="16C7E8"/>
                </a:solidFill>
              </a:rPr>
              <a:t>DISEÑO MODULAR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960120" y="1143000"/>
            <a:ext cx="10241280" cy="84124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4B942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7" name="Shape 5"/>
          <p:cNvSpPr/>
          <p:nvPr/>
        </p:nvSpPr>
        <p:spPr>
          <a:xfrm>
            <a:off x="1143000" y="1289304"/>
            <a:ext cx="2423160" cy="530352"/>
          </a:xfrm>
          <a:prstGeom prst="roundRect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8" name="Text 6"/>
          <p:cNvSpPr/>
          <p:nvPr/>
        </p:nvSpPr>
        <p:spPr>
          <a:xfrm>
            <a:off x="1298448" y="1444752"/>
            <a:ext cx="2103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71A2E"/>
                </a:solidFill>
              </a:rPr>
              <a:t>motor-scoring-domain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886200" y="1408176"/>
            <a:ext cx="6766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52238"/>
                </a:solidFill>
              </a:rPr>
              <a:t>Entities · ValueObjects · Services · Repository ports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960120" y="2313432"/>
            <a:ext cx="10241280" cy="84124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B5CAB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11" name="Shape 9"/>
          <p:cNvSpPr/>
          <p:nvPr/>
        </p:nvSpPr>
        <p:spPr>
          <a:xfrm>
            <a:off x="1143000" y="2459736"/>
            <a:ext cx="2423160" cy="530352"/>
          </a:xfrm>
          <a:prstGeom prst="roundRect">
            <a:avLst/>
          </a:prstGeom>
          <a:solidFill>
            <a:srgbClr val="0B5CAB"/>
          </a:solidFill>
          <a:ln w="12700">
            <a:solidFill>
              <a:srgbClr val="0B5CAB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2" name="Text 10"/>
          <p:cNvSpPr/>
          <p:nvPr/>
        </p:nvSpPr>
        <p:spPr>
          <a:xfrm>
            <a:off x="1298448" y="2615184"/>
            <a:ext cx="2103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motor-scoring-application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886200" y="2578608"/>
            <a:ext cx="6766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52238"/>
                </a:solidFill>
              </a:rPr>
              <a:t>Use Cases · DTOs · Orquestación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960120" y="3483864"/>
            <a:ext cx="10241280" cy="84124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6C7E8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15" name="Shape 13"/>
          <p:cNvSpPr/>
          <p:nvPr/>
        </p:nvSpPr>
        <p:spPr>
          <a:xfrm>
            <a:off x="1143000" y="3630168"/>
            <a:ext cx="2423160" cy="530352"/>
          </a:xfrm>
          <a:prstGeom prst="roundRect">
            <a:avLst/>
          </a:prstGeom>
          <a:solidFill>
            <a:srgbClr val="16C7E8"/>
          </a:solidFill>
          <a:ln w="12700">
            <a:solidFill>
              <a:srgbClr val="16C7E8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6" name="Text 14"/>
          <p:cNvSpPr/>
          <p:nvPr/>
        </p:nvSpPr>
        <p:spPr>
          <a:xfrm>
            <a:off x="1298448" y="3785616"/>
            <a:ext cx="2103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motor-scoring-presentation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886200" y="3749040"/>
            <a:ext cx="6766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52238"/>
                </a:solidFill>
              </a:rPr>
              <a:t>Controllers · Request/Response · Validación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960120" y="4654296"/>
            <a:ext cx="10241280" cy="84124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0C997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19" name="Shape 17"/>
          <p:cNvSpPr/>
          <p:nvPr/>
        </p:nvSpPr>
        <p:spPr>
          <a:xfrm>
            <a:off x="1143000" y="4800600"/>
            <a:ext cx="2423160" cy="530352"/>
          </a:xfrm>
          <a:prstGeom prst="roundRect">
            <a:avLst/>
          </a:prstGeom>
          <a:solidFill>
            <a:srgbClr val="20C997"/>
          </a:solidFill>
          <a:ln w="12700">
            <a:solidFill>
              <a:srgbClr val="20C99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0" name="Text 18"/>
          <p:cNvSpPr/>
          <p:nvPr/>
        </p:nvSpPr>
        <p:spPr>
          <a:xfrm>
            <a:off x="1298448" y="4956048"/>
            <a:ext cx="2103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adapter-out (Mongo + H2)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886200" y="4919472"/>
            <a:ext cx="6766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52238"/>
                </a:solidFill>
              </a:rPr>
              <a:t>Mappers · Documents/Entities · 2 implementaciones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02920" y="6528816"/>
            <a:ext cx="5486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D8A9A"/>
                </a:solidFill>
              </a:rPr>
              <a:t>Motor de Scoring Crediticio  |  Arquitectura Hexagonal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6C7E8"/>
          </a:solidFill>
          <a:ln w="12700">
            <a:solidFill>
              <a:srgbClr val="16C7E8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71A2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Flujo de datos: ejemplo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1155680" y="34747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B5CAB"/>
                </a:solidFill>
              </a:rPr>
              <a:t>06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21208" y="75895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40" dirty="0">
                <a:solidFill>
                  <a:srgbClr val="16C7E8"/>
                </a:solidFill>
              </a:rPr>
              <a:t>REQUEST TO RESPONSE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20040" y="2240280"/>
            <a:ext cx="114300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B5CAB"/>
            </a:solidFill>
            <a:prstDash val="solid"/>
          </a:ln>
          <a:effectLst>
            <a:outerShdw blurRad="127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7" name="Text 5"/>
          <p:cNvSpPr/>
          <p:nvPr/>
        </p:nvSpPr>
        <p:spPr>
          <a:xfrm>
            <a:off x="393192" y="2578608"/>
            <a:ext cx="996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52238"/>
                </a:solidFill>
              </a:rPr>
              <a:t>POST /evaluar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463040" y="2743200"/>
            <a:ext cx="301752" cy="0"/>
          </a:xfrm>
          <a:prstGeom prst="line">
            <a:avLst/>
          </a:prstGeom>
          <a:noFill/>
          <a:ln w="31750">
            <a:solidFill>
              <a:srgbClr val="16C7E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PE"/>
          </a:p>
        </p:txBody>
      </p:sp>
      <p:sp>
        <p:nvSpPr>
          <p:cNvPr id="9" name="Shape 7"/>
          <p:cNvSpPr/>
          <p:nvPr/>
        </p:nvSpPr>
        <p:spPr>
          <a:xfrm>
            <a:off x="1792224" y="2240280"/>
            <a:ext cx="114300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B5CAB"/>
            </a:solidFill>
            <a:prstDash val="solid"/>
          </a:ln>
          <a:effectLst>
            <a:outerShdw blurRad="127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10" name="Text 8"/>
          <p:cNvSpPr/>
          <p:nvPr/>
        </p:nvSpPr>
        <p:spPr>
          <a:xfrm>
            <a:off x="1865376" y="2578608"/>
            <a:ext cx="996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52238"/>
                </a:solidFill>
              </a:rPr>
              <a:t>Controller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935224" y="2743200"/>
            <a:ext cx="301752" cy="0"/>
          </a:xfrm>
          <a:prstGeom prst="line">
            <a:avLst/>
          </a:prstGeom>
          <a:noFill/>
          <a:ln w="31750">
            <a:solidFill>
              <a:srgbClr val="16C7E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PE"/>
          </a:p>
        </p:txBody>
      </p:sp>
      <p:sp>
        <p:nvSpPr>
          <p:cNvPr id="12" name="Shape 10"/>
          <p:cNvSpPr/>
          <p:nvPr/>
        </p:nvSpPr>
        <p:spPr>
          <a:xfrm>
            <a:off x="3264408" y="2240280"/>
            <a:ext cx="114300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B5CAB"/>
            </a:solidFill>
            <a:prstDash val="solid"/>
          </a:ln>
          <a:effectLst>
            <a:outerShdw blurRad="127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13" name="Text 11"/>
          <p:cNvSpPr/>
          <p:nvPr/>
        </p:nvSpPr>
        <p:spPr>
          <a:xfrm>
            <a:off x="3337560" y="2578608"/>
            <a:ext cx="996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52238"/>
                </a:solidFill>
              </a:rPr>
              <a:t>Use Case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407408" y="2743200"/>
            <a:ext cx="301752" cy="0"/>
          </a:xfrm>
          <a:prstGeom prst="line">
            <a:avLst/>
          </a:prstGeom>
          <a:noFill/>
          <a:ln w="31750">
            <a:solidFill>
              <a:srgbClr val="16C7E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PE"/>
          </a:p>
        </p:txBody>
      </p:sp>
      <p:sp>
        <p:nvSpPr>
          <p:cNvPr id="15" name="Shape 13"/>
          <p:cNvSpPr/>
          <p:nvPr/>
        </p:nvSpPr>
        <p:spPr>
          <a:xfrm>
            <a:off x="4736592" y="2240280"/>
            <a:ext cx="1143000" cy="1005840"/>
          </a:xfrm>
          <a:prstGeom prst="roundRect">
            <a:avLst/>
          </a:prstGeom>
          <a:solidFill>
            <a:srgbClr val="F4B942"/>
          </a:solidFill>
          <a:ln w="19050">
            <a:solidFill>
              <a:srgbClr val="F4B942"/>
            </a:solidFill>
            <a:prstDash val="solid"/>
          </a:ln>
          <a:effectLst>
            <a:outerShdw blurRad="127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16" name="Text 14"/>
          <p:cNvSpPr/>
          <p:nvPr/>
        </p:nvSpPr>
        <p:spPr>
          <a:xfrm>
            <a:off x="4809744" y="2578608"/>
            <a:ext cx="996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71A2E"/>
                </a:solidFill>
              </a:rPr>
              <a:t>Domain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879592" y="2743200"/>
            <a:ext cx="301752" cy="0"/>
          </a:xfrm>
          <a:prstGeom prst="line">
            <a:avLst/>
          </a:prstGeom>
          <a:noFill/>
          <a:ln w="31750">
            <a:solidFill>
              <a:srgbClr val="16C7E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PE"/>
          </a:p>
        </p:txBody>
      </p:sp>
      <p:sp>
        <p:nvSpPr>
          <p:cNvPr id="18" name="Shape 16"/>
          <p:cNvSpPr/>
          <p:nvPr/>
        </p:nvSpPr>
        <p:spPr>
          <a:xfrm>
            <a:off x="6208776" y="2240280"/>
            <a:ext cx="114300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B5CAB"/>
            </a:solidFill>
            <a:prstDash val="solid"/>
          </a:ln>
          <a:effectLst>
            <a:outerShdw blurRad="127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19" name="Text 17"/>
          <p:cNvSpPr/>
          <p:nvPr/>
        </p:nvSpPr>
        <p:spPr>
          <a:xfrm>
            <a:off x="6281928" y="2578608"/>
            <a:ext cx="996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52238"/>
                </a:solidFill>
              </a:rPr>
              <a:t>Repository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351776" y="2743200"/>
            <a:ext cx="301752" cy="0"/>
          </a:xfrm>
          <a:prstGeom prst="line">
            <a:avLst/>
          </a:prstGeom>
          <a:noFill/>
          <a:ln w="31750">
            <a:solidFill>
              <a:srgbClr val="16C7E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PE"/>
          </a:p>
        </p:txBody>
      </p:sp>
      <p:sp>
        <p:nvSpPr>
          <p:cNvPr id="21" name="Shape 19"/>
          <p:cNvSpPr/>
          <p:nvPr/>
        </p:nvSpPr>
        <p:spPr>
          <a:xfrm>
            <a:off x="7680960" y="2240280"/>
            <a:ext cx="1143000" cy="1005840"/>
          </a:xfrm>
          <a:prstGeom prst="roundRect">
            <a:avLst/>
          </a:prstGeom>
          <a:solidFill>
            <a:srgbClr val="20C997"/>
          </a:solidFill>
          <a:ln w="19050">
            <a:solidFill>
              <a:srgbClr val="20C997"/>
            </a:solidFill>
            <a:prstDash val="solid"/>
          </a:ln>
          <a:effectLst>
            <a:outerShdw blurRad="127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22" name="Text 20"/>
          <p:cNvSpPr/>
          <p:nvPr/>
        </p:nvSpPr>
        <p:spPr>
          <a:xfrm>
            <a:off x="7754112" y="2578608"/>
            <a:ext cx="996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52238"/>
                </a:solidFill>
              </a:rPr>
              <a:t>MongoDB / H2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823960" y="2743200"/>
            <a:ext cx="301752" cy="0"/>
          </a:xfrm>
          <a:prstGeom prst="line">
            <a:avLst/>
          </a:prstGeom>
          <a:noFill/>
          <a:ln w="31750">
            <a:solidFill>
              <a:srgbClr val="16C7E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PE"/>
          </a:p>
        </p:txBody>
      </p:sp>
      <p:sp>
        <p:nvSpPr>
          <p:cNvPr id="24" name="Shape 22"/>
          <p:cNvSpPr/>
          <p:nvPr/>
        </p:nvSpPr>
        <p:spPr>
          <a:xfrm>
            <a:off x="9153144" y="2240280"/>
            <a:ext cx="114300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B5CAB"/>
            </a:solidFill>
            <a:prstDash val="solid"/>
          </a:ln>
          <a:effectLst>
            <a:outerShdw blurRad="127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25" name="Text 23"/>
          <p:cNvSpPr/>
          <p:nvPr/>
        </p:nvSpPr>
        <p:spPr>
          <a:xfrm>
            <a:off x="9226296" y="2578608"/>
            <a:ext cx="996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52238"/>
                </a:solidFill>
              </a:rPr>
              <a:t>Mapper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10296144" y="2743200"/>
            <a:ext cx="301752" cy="0"/>
          </a:xfrm>
          <a:prstGeom prst="line">
            <a:avLst/>
          </a:prstGeom>
          <a:noFill/>
          <a:ln w="31750">
            <a:solidFill>
              <a:srgbClr val="16C7E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PE"/>
          </a:p>
        </p:txBody>
      </p:sp>
      <p:sp>
        <p:nvSpPr>
          <p:cNvPr id="27" name="Shape 25"/>
          <p:cNvSpPr/>
          <p:nvPr/>
        </p:nvSpPr>
        <p:spPr>
          <a:xfrm>
            <a:off x="10625328" y="2240280"/>
            <a:ext cx="114300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B5CAB"/>
            </a:solidFill>
            <a:prstDash val="solid"/>
          </a:ln>
          <a:effectLst>
            <a:outerShdw blurRad="127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28" name="Text 26"/>
          <p:cNvSpPr/>
          <p:nvPr/>
        </p:nvSpPr>
        <p:spPr>
          <a:xfrm>
            <a:off x="10698480" y="2578608"/>
            <a:ext cx="996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52238"/>
                </a:solidFill>
              </a:rPr>
              <a:t>JSON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1645920" y="164592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6C7E8"/>
                </a:solidFill>
              </a:rPr>
              <a:t>ADAPTER IN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931920" y="1645920"/>
            <a:ext cx="3703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4B942"/>
                </a:solidFill>
              </a:rPr>
              <a:t>APPLICATION + DOMAIN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818120" y="164592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0C997"/>
                </a:solidFill>
              </a:rPr>
              <a:t>ADAPTER OUT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188720" y="4114800"/>
            <a:ext cx="9784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D6B7E"/>
                </a:solidFill>
              </a:rPr>
              <a:t>Las interfaces del dominio actúan como frontera estable. El profile activo (h2 o mongodb) decide el adaptador, sin reescribir reglas de scoring.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02920" y="6528816"/>
            <a:ext cx="5486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D8A9A"/>
                </a:solidFill>
              </a:rPr>
              <a:t>Motor de Scoring Crediticio  |  Arquitectura Hexagonal</a:t>
            </a:r>
            <a:endParaRPr lang="en-US" sz="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6C7E8"/>
          </a:solidFill>
          <a:ln w="12700">
            <a:solidFill>
              <a:srgbClr val="16C7E8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71A2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Stack tecnológico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1155680" y="34747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B5CAB"/>
                </a:solidFill>
              </a:rPr>
              <a:t>07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21208" y="75895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40" dirty="0">
                <a:solidFill>
                  <a:srgbClr val="16C7E8"/>
                </a:solidFill>
              </a:rPr>
              <a:t>PLATAFORMA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94360" y="1234440"/>
            <a:ext cx="2514600" cy="416052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7" name="Shape 5"/>
          <p:cNvSpPr/>
          <p:nvPr/>
        </p:nvSpPr>
        <p:spPr>
          <a:xfrm>
            <a:off x="594360" y="1234440"/>
            <a:ext cx="64008" cy="4160520"/>
          </a:xfrm>
          <a:prstGeom prst="rect">
            <a:avLst/>
          </a:prstGeom>
          <a:solidFill>
            <a:srgbClr val="0B5CAB"/>
          </a:solidFill>
          <a:ln w="12700">
            <a:solidFill>
              <a:srgbClr val="0B5CAB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8" name="Text 6"/>
          <p:cNvSpPr/>
          <p:nvPr/>
        </p:nvSpPr>
        <p:spPr>
          <a:xfrm>
            <a:off x="795528" y="1399032"/>
            <a:ext cx="2130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71A2E"/>
                </a:solidFill>
              </a:rPr>
              <a:t>BACKEND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95528" y="1764792"/>
            <a:ext cx="2130552" cy="35021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r>
              <a:rPr lang="en-US" sz="1150" dirty="0">
                <a:solidFill>
                  <a:srgbClr val="5D6B7E"/>
                </a:solidFill>
              </a:rPr>
              <a:t>Java 21</a:t>
            </a:r>
            <a:endParaRPr lang="en-US" sz="1150" dirty="0"/>
          </a:p>
          <a:p>
            <a:r>
              <a:rPr lang="en-US" sz="1150" dirty="0">
                <a:solidFill>
                  <a:srgbClr val="5D6B7E"/>
                </a:solidFill>
              </a:rPr>
              <a:t>Spring Boot 3.x</a:t>
            </a:r>
            <a:endParaRPr lang="en-US" sz="1150" dirty="0"/>
          </a:p>
          <a:p>
            <a:r>
              <a:rPr lang="en-US" sz="1150" dirty="0">
                <a:solidFill>
                  <a:srgbClr val="5D6B7E"/>
                </a:solidFill>
              </a:rPr>
              <a:t>Spring Data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474720" y="1234440"/>
            <a:ext cx="2514600" cy="416052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11" name="Shape 9"/>
          <p:cNvSpPr/>
          <p:nvPr/>
        </p:nvSpPr>
        <p:spPr>
          <a:xfrm>
            <a:off x="3474720" y="1234440"/>
            <a:ext cx="64008" cy="4160520"/>
          </a:xfrm>
          <a:prstGeom prst="rect">
            <a:avLst/>
          </a:prstGeom>
          <a:solidFill>
            <a:srgbClr val="20C997"/>
          </a:solidFill>
          <a:ln w="12700">
            <a:solidFill>
              <a:srgbClr val="20C99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2" name="Text 10"/>
          <p:cNvSpPr/>
          <p:nvPr/>
        </p:nvSpPr>
        <p:spPr>
          <a:xfrm>
            <a:off x="3675888" y="1399032"/>
            <a:ext cx="2130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71A2E"/>
                </a:solidFill>
              </a:rPr>
              <a:t>PERSISTENCIA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675888" y="1764792"/>
            <a:ext cx="2130552" cy="35021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r>
              <a:rPr lang="en-US" sz="1150" dirty="0">
                <a:solidFill>
                  <a:srgbClr val="5D6B7E"/>
                </a:solidFill>
              </a:rPr>
              <a:t>MongoDB + H2</a:t>
            </a:r>
            <a:endParaRPr lang="en-US" sz="1150" dirty="0"/>
          </a:p>
          <a:p>
            <a:r>
              <a:rPr lang="en-US" sz="1150" dirty="0">
                <a:solidFill>
                  <a:srgbClr val="5D6B7E"/>
                </a:solidFill>
              </a:rPr>
              <a:t>Flyway</a:t>
            </a:r>
            <a:endParaRPr lang="en-US" sz="1150" dirty="0"/>
          </a:p>
          <a:p>
            <a:r>
              <a:rPr lang="en-US" sz="1150" dirty="0">
                <a:solidFill>
                  <a:srgbClr val="5D6B7E"/>
                </a:solidFill>
              </a:rPr>
              <a:t>Docker volumes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355080" y="1234440"/>
            <a:ext cx="2514600" cy="416052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15" name="Shape 13"/>
          <p:cNvSpPr/>
          <p:nvPr/>
        </p:nvSpPr>
        <p:spPr>
          <a:xfrm>
            <a:off x="6355080" y="1234440"/>
            <a:ext cx="64008" cy="4160520"/>
          </a:xfrm>
          <a:prstGeom prst="rect">
            <a:avLst/>
          </a:prstGeom>
          <a:solidFill>
            <a:srgbClr val="8667E8"/>
          </a:solidFill>
          <a:ln w="12700">
            <a:solidFill>
              <a:srgbClr val="8667E8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6" name="Text 14"/>
          <p:cNvSpPr/>
          <p:nvPr/>
        </p:nvSpPr>
        <p:spPr>
          <a:xfrm>
            <a:off x="6556248" y="1399032"/>
            <a:ext cx="2130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71A2E"/>
                </a:solidFill>
              </a:rPr>
              <a:t>BUILD &amp; CI/CD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556248" y="1764792"/>
            <a:ext cx="2130552" cy="35021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r>
              <a:rPr lang="en-US" sz="1150" dirty="0">
                <a:solidFill>
                  <a:srgbClr val="5D6B7E"/>
                </a:solidFill>
              </a:rPr>
              <a:t>Maven 3.x</a:t>
            </a:r>
            <a:endParaRPr lang="en-US" sz="1150" dirty="0"/>
          </a:p>
          <a:p>
            <a:r>
              <a:rPr lang="en-US" sz="1150" dirty="0">
                <a:solidFill>
                  <a:srgbClr val="5D6B7E"/>
                </a:solidFill>
              </a:rPr>
              <a:t>Docker Compose</a:t>
            </a:r>
            <a:endParaRPr lang="en-US" sz="1150" dirty="0"/>
          </a:p>
          <a:p>
            <a:r>
              <a:rPr lang="en-US" sz="1150" dirty="0">
                <a:solidFill>
                  <a:srgbClr val="5D6B7E"/>
                </a:solidFill>
              </a:rPr>
              <a:t>ArchUnit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9235440" y="1234440"/>
            <a:ext cx="2514600" cy="416052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19" name="Shape 17"/>
          <p:cNvSpPr/>
          <p:nvPr/>
        </p:nvSpPr>
        <p:spPr>
          <a:xfrm>
            <a:off x="9235440" y="1234440"/>
            <a:ext cx="64008" cy="4160520"/>
          </a:xfrm>
          <a:prstGeom prst="rect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0" name="Text 18"/>
          <p:cNvSpPr/>
          <p:nvPr/>
        </p:nvSpPr>
        <p:spPr>
          <a:xfrm>
            <a:off x="9436608" y="1399032"/>
            <a:ext cx="2130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71A2E"/>
                </a:solidFill>
              </a:rPr>
              <a:t>TESTING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436608" y="1764792"/>
            <a:ext cx="2130552" cy="35021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r>
              <a:rPr lang="en-US" sz="1150" dirty="0">
                <a:solidFill>
                  <a:srgbClr val="5D6B7E"/>
                </a:solidFill>
              </a:rPr>
              <a:t>JUnit 5</a:t>
            </a:r>
            <a:endParaRPr lang="en-US" sz="1150" dirty="0"/>
          </a:p>
          <a:p>
            <a:r>
              <a:rPr lang="en-US" sz="1150" dirty="0">
                <a:solidFill>
                  <a:srgbClr val="5D6B7E"/>
                </a:solidFill>
              </a:rPr>
              <a:t>Mockito</a:t>
            </a:r>
            <a:endParaRPr lang="en-US" sz="1150" dirty="0"/>
          </a:p>
          <a:p>
            <a:r>
              <a:rPr lang="en-US" sz="1150" dirty="0">
                <a:solidFill>
                  <a:srgbClr val="5D6B7E"/>
                </a:solidFill>
              </a:rPr>
              <a:t>TestContainers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02920" y="6528816"/>
            <a:ext cx="5486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D8A9A"/>
                </a:solidFill>
              </a:rPr>
              <a:t>Motor de Scoring Crediticio  |  Arquitectura Hexagonal</a:t>
            </a:r>
            <a:endParaRPr lang="en-US" sz="7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6C7E8"/>
          </a:solidFill>
          <a:ln w="12700">
            <a:solidFill>
              <a:srgbClr val="16C7E8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71A2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Arquitectura Hexagonal vs Onion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1155680" y="34747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B5CAB"/>
                </a:solidFill>
              </a:rPr>
              <a:t>08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21208" y="75895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40" dirty="0">
                <a:solidFill>
                  <a:srgbClr val="16C7E8"/>
                </a:solidFill>
              </a:rPr>
              <a:t>COMPARACIÓN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94360" y="1143000"/>
            <a:ext cx="5303520" cy="2880360"/>
          </a:xfrm>
          <a:prstGeom prst="roundRect">
            <a:avLst/>
          </a:prstGeom>
          <a:solidFill>
            <a:srgbClr val="EAF5FF"/>
          </a:solidFill>
          <a:ln w="19050">
            <a:solidFill>
              <a:srgbClr val="0B5CAB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7" name="Text 5"/>
          <p:cNvSpPr/>
          <p:nvPr/>
        </p:nvSpPr>
        <p:spPr>
          <a:xfrm>
            <a:off x="914400" y="141732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B5CAB"/>
                </a:solidFill>
              </a:rPr>
              <a:t>HEXAGONAL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1280160" y="1965960"/>
            <a:ext cx="3931920" cy="4023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B5CAB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9" name="Text 7"/>
          <p:cNvSpPr/>
          <p:nvPr/>
        </p:nvSpPr>
        <p:spPr>
          <a:xfrm>
            <a:off x="1417320" y="2075688"/>
            <a:ext cx="3657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52238"/>
                </a:solidFill>
              </a:rPr>
              <a:t>Entrada (Adapters)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280160" y="2532888"/>
            <a:ext cx="3931920" cy="402336"/>
          </a:xfrm>
          <a:prstGeom prst="roundRect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1" name="Text 9"/>
          <p:cNvSpPr/>
          <p:nvPr/>
        </p:nvSpPr>
        <p:spPr>
          <a:xfrm>
            <a:off x="1417320" y="2642616"/>
            <a:ext cx="3657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52238"/>
                </a:solidFill>
              </a:rPr>
              <a:t>NEGOCIO / PUERTOS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280160" y="3099816"/>
            <a:ext cx="3931920" cy="4023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B5CAB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3" name="Text 11"/>
          <p:cNvSpPr/>
          <p:nvPr/>
        </p:nvSpPr>
        <p:spPr>
          <a:xfrm>
            <a:off x="1417320" y="3209544"/>
            <a:ext cx="3657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52238"/>
                </a:solidFill>
              </a:rPr>
              <a:t>Salida (Adapters)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309360" y="1143000"/>
            <a:ext cx="5303520" cy="2880360"/>
          </a:xfrm>
          <a:prstGeom prst="roundRect">
            <a:avLst/>
          </a:prstGeom>
          <a:solidFill>
            <a:srgbClr val="F2EDFF"/>
          </a:solidFill>
          <a:ln w="19050">
            <a:solidFill>
              <a:srgbClr val="8667E8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5" name="Text 13"/>
          <p:cNvSpPr/>
          <p:nvPr/>
        </p:nvSpPr>
        <p:spPr>
          <a:xfrm>
            <a:off x="6675120" y="141732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8667E8"/>
                </a:solidFill>
              </a:rPr>
              <a:t>ONION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6720840" y="1874520"/>
            <a:ext cx="4480560" cy="1737360"/>
          </a:xfrm>
          <a:prstGeom prst="round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8667E8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7" name="Text 15"/>
          <p:cNvSpPr/>
          <p:nvPr/>
        </p:nvSpPr>
        <p:spPr>
          <a:xfrm>
            <a:off x="6720840" y="1984248"/>
            <a:ext cx="4480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000"/>
                </a:solidFill>
              </a:rPr>
              <a:t>API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086600" y="2176272"/>
            <a:ext cx="3749040" cy="1170432"/>
          </a:xfrm>
          <a:prstGeom prst="round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8667E8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9" name="Text 17"/>
          <p:cNvSpPr/>
          <p:nvPr/>
        </p:nvSpPr>
        <p:spPr>
          <a:xfrm>
            <a:off x="7086600" y="2286000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000"/>
                </a:solidFill>
              </a:rPr>
              <a:t>Application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498080" y="2487168"/>
            <a:ext cx="2926080" cy="566928"/>
          </a:xfrm>
          <a:prstGeom prst="roundRect">
            <a:avLst/>
          </a:prstGeom>
          <a:solidFill>
            <a:srgbClr val="F4B942"/>
          </a:solidFill>
          <a:ln w="12700">
            <a:solidFill>
              <a:srgbClr val="8667E8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1" name="Text 19"/>
          <p:cNvSpPr/>
          <p:nvPr/>
        </p:nvSpPr>
        <p:spPr>
          <a:xfrm>
            <a:off x="7498080" y="2596896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000"/>
                </a:solidFill>
              </a:rPr>
              <a:t>Domain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77240" y="434340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D6B7E"/>
                </a:solidFill>
              </a:rPr>
              <a:t>Dependencias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834640" y="434340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5CAB"/>
                </a:solidFill>
              </a:rPr>
              <a:t>Puertos / inversión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492240" y="434340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667E8"/>
                </a:solidFill>
              </a:rPr>
              <a:t>Hacia el centro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777240" y="469087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D6B7E"/>
                </a:solidFill>
              </a:rPr>
              <a:t>Flexibilidad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834640" y="4690872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5CAB"/>
                </a:solidFill>
              </a:rPr>
              <a:t>Alta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492240" y="4690872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667E8"/>
                </a:solidFill>
              </a:rPr>
              <a:t>Media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777240" y="5038344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D6B7E"/>
                </a:solidFill>
              </a:rPr>
              <a:t>Testing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834640" y="5038344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5CAB"/>
                </a:solidFill>
              </a:rPr>
              <a:t>Muy fácil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492240" y="5038344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667E8"/>
                </a:solidFill>
              </a:rPr>
              <a:t>Fácil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777240" y="5385816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D6B7E"/>
                </a:solidFill>
              </a:rPr>
              <a:t>Complejidad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2834640" y="5385816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5CAB"/>
                </a:solidFill>
              </a:rPr>
              <a:t>Más interfaces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492240" y="5385816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667E8"/>
                </a:solidFill>
              </a:rPr>
              <a:t>Más intuitiva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777240" y="5733288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D6B7E"/>
                </a:solidFill>
              </a:rPr>
              <a:t>Escalabilidad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2834640" y="5733288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5CAB"/>
                </a:solidFill>
              </a:rPr>
              <a:t>Excelente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492240" y="5733288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667E8"/>
                </a:solidFill>
              </a:rPr>
              <a:t>Condicionada por capas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02920" y="6528816"/>
            <a:ext cx="5486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D8A9A"/>
                </a:solidFill>
              </a:rPr>
              <a:t>Motor de Scoring Crediticio  |  Arquitectura Hexagonal</a:t>
            </a:r>
            <a:endParaRPr lang="en-US" sz="7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6C7E8"/>
          </a:solidFill>
          <a:ln w="12700">
            <a:solidFill>
              <a:srgbClr val="16C7E8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71A2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Estructura detallada: carpetas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1155680" y="34747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B5CAB"/>
                </a:solidFill>
              </a:rPr>
              <a:t>09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21208" y="75895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40" dirty="0">
                <a:solidFill>
                  <a:srgbClr val="16C7E8"/>
                </a:solidFill>
              </a:rPr>
              <a:t>CÓDIGO ORGANIZADO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640080" y="1143000"/>
            <a:ext cx="5257800" cy="4983480"/>
          </a:xfrm>
          <a:prstGeom prst="roundRect">
            <a:avLst/>
          </a:prstGeom>
          <a:solidFill>
            <a:srgbClr val="0D1B2A"/>
          </a:solidFill>
          <a:ln w="17780">
            <a:solidFill>
              <a:srgbClr val="16C7E8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7" name="Text 5"/>
          <p:cNvSpPr/>
          <p:nvPr/>
        </p:nvSpPr>
        <p:spPr>
          <a:xfrm>
            <a:off x="914400" y="1444752"/>
            <a:ext cx="4709160" cy="4434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motor-scoring-domain/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entity/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SolicitudCredito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Solicitante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EvaluacionCrediticia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valueobject/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Dinero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Porcentaje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PuntajeCrediticio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service/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repository/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09360" y="1143000"/>
            <a:ext cx="5257800" cy="4983480"/>
          </a:xfrm>
          <a:prstGeom prst="roundRect">
            <a:avLst/>
          </a:prstGeom>
          <a:solidFill>
            <a:srgbClr val="0D1B2A"/>
          </a:solidFill>
          <a:ln w="17780">
            <a:solidFill>
              <a:srgbClr val="20C99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9" name="Text 7"/>
          <p:cNvSpPr/>
          <p:nvPr/>
        </p:nvSpPr>
        <p:spPr>
          <a:xfrm>
            <a:off x="6583680" y="1444752"/>
            <a:ext cx="4709160" cy="4434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adapter-out-mongodb/ (+H2)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mapper/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SolicitudCreditoMongoMapper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EvaluacionMongoMapper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repository/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SolicitudCreditoRepositoryImpl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document/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 SolicitudCreditoMongoDocument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└── EvaluacionMongoDocument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6528816"/>
            <a:ext cx="5486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D8A9A"/>
                </a:solidFill>
              </a:rPr>
              <a:t>Motor de Scoring Crediticio  |  Arquitectura Hexagonal</a:t>
            </a:r>
            <a:endParaRPr lang="en-US" sz="7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6C7E8"/>
          </a:solidFill>
          <a:ln w="12700">
            <a:solidFill>
              <a:srgbClr val="16C7E8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71A2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Mapper manual: Domain ↔ Document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1155680" y="34747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B5CAB"/>
                </a:solidFill>
              </a:rPr>
              <a:t>10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21208" y="75895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40" dirty="0">
                <a:solidFill>
                  <a:srgbClr val="16C7E8"/>
                </a:solidFill>
              </a:rPr>
              <a:t>MAPEO TYPE-SAFE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94360" y="1097280"/>
            <a:ext cx="5257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5D75"/>
                </a:solidFill>
              </a:rPr>
              <a:t>USADO EN EL PROYECTO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94360" y="1444752"/>
            <a:ext cx="5257800" cy="2057400"/>
          </a:xfrm>
          <a:prstGeom prst="roundRect">
            <a:avLst/>
          </a:prstGeom>
          <a:solidFill>
            <a:srgbClr val="0D1B2A"/>
          </a:solidFill>
          <a:ln w="12700">
            <a:solidFill>
              <a:srgbClr val="E85D75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8" name="Text 6"/>
          <p:cNvSpPr/>
          <p:nvPr/>
        </p:nvSpPr>
        <p:spPr>
          <a:xfrm>
            <a:off x="777240" y="1664208"/>
            <a:ext cx="4892040" cy="1627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SolicitudMapper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SolicitudDTO toDTO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Entity 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SolicitudDTO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getId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getMonto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decenas de líneas...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217920" y="1097280"/>
            <a:ext cx="5257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0C997"/>
                </a:solidFill>
              </a:rPr>
              <a:t>ALTERNATIVA NO ADOPTADA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17920" y="1444752"/>
            <a:ext cx="5257800" cy="2057400"/>
          </a:xfrm>
          <a:prstGeom prst="roundRect">
            <a:avLst/>
          </a:prstGeom>
          <a:solidFill>
            <a:srgbClr val="0D1B2A"/>
          </a:solidFill>
          <a:ln w="12700">
            <a:solidFill>
              <a:srgbClr val="20C99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1" name="Text 9"/>
          <p:cNvSpPr/>
          <p:nvPr/>
        </p:nvSpPr>
        <p:spPr>
          <a:xfrm>
            <a:off x="6400800" y="1664208"/>
            <a:ext cx="4892040" cy="1627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@Mapper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componentModel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"spring"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interface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SolicitudMapper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SolicitudDTO toDTO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SolicitudEntity 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58368" y="4069080"/>
            <a:ext cx="3429000" cy="502920"/>
          </a:xfrm>
          <a:prstGeom prst="roundRect">
            <a:avLst/>
          </a:prstGeom>
          <a:solidFill>
            <a:srgbClr val="E8FAF5"/>
          </a:solidFill>
          <a:ln w="12700">
            <a:solidFill>
              <a:srgbClr val="20C99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3" name="Text 11"/>
          <p:cNvSpPr/>
          <p:nvPr/>
        </p:nvSpPr>
        <p:spPr>
          <a:xfrm>
            <a:off x="804672" y="4224528"/>
            <a:ext cx="3154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52238"/>
                </a:solidFill>
              </a:rPr>
              <a:t>✓  Código generado en compilación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480560" y="4069080"/>
            <a:ext cx="3429000" cy="502920"/>
          </a:xfrm>
          <a:prstGeom prst="roundRect">
            <a:avLst/>
          </a:prstGeom>
          <a:solidFill>
            <a:srgbClr val="E8FAF5"/>
          </a:solidFill>
          <a:ln w="12700">
            <a:solidFill>
              <a:srgbClr val="20C99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5" name="Text 13"/>
          <p:cNvSpPr/>
          <p:nvPr/>
        </p:nvSpPr>
        <p:spPr>
          <a:xfrm>
            <a:off x="4626864" y="4224528"/>
            <a:ext cx="3154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52238"/>
                </a:solidFill>
              </a:rPr>
              <a:t>✓  Type-safe, sin casting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302752" y="4069080"/>
            <a:ext cx="3429000" cy="502920"/>
          </a:xfrm>
          <a:prstGeom prst="roundRect">
            <a:avLst/>
          </a:prstGeom>
          <a:solidFill>
            <a:srgbClr val="E8FAF5"/>
          </a:solidFill>
          <a:ln w="12700">
            <a:solidFill>
              <a:srgbClr val="20C99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7" name="Text 15"/>
          <p:cNvSpPr/>
          <p:nvPr/>
        </p:nvSpPr>
        <p:spPr>
          <a:xfrm>
            <a:off x="8449056" y="4224528"/>
            <a:ext cx="3154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52238"/>
                </a:solidFill>
              </a:rPr>
              <a:t>✓  Sin reflection: alto performance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58368" y="4782312"/>
            <a:ext cx="3429000" cy="502920"/>
          </a:xfrm>
          <a:prstGeom prst="roundRect">
            <a:avLst/>
          </a:prstGeom>
          <a:solidFill>
            <a:srgbClr val="E8FAF5"/>
          </a:solidFill>
          <a:ln w="12700">
            <a:solidFill>
              <a:srgbClr val="20C99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9" name="Text 17"/>
          <p:cNvSpPr/>
          <p:nvPr/>
        </p:nvSpPr>
        <p:spPr>
          <a:xfrm>
            <a:off x="804672" y="4937760"/>
            <a:ext cx="3154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52238"/>
                </a:solidFill>
              </a:rPr>
              <a:t>✓  Integración Spring automática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480560" y="4782312"/>
            <a:ext cx="3429000" cy="502920"/>
          </a:xfrm>
          <a:prstGeom prst="roundRect">
            <a:avLst/>
          </a:prstGeom>
          <a:solidFill>
            <a:srgbClr val="E8FAF5"/>
          </a:solidFill>
          <a:ln w="12700">
            <a:solidFill>
              <a:srgbClr val="20C99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1" name="Text 19"/>
          <p:cNvSpPr/>
          <p:nvPr/>
        </p:nvSpPr>
        <p:spPr>
          <a:xfrm>
            <a:off x="4626864" y="4937760"/>
            <a:ext cx="3154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52238"/>
                </a:solidFill>
              </a:rPr>
              <a:t>✓  Mantenible y refactor-safe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703320" y="580644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5CAB"/>
                </a:solidFill>
              </a:rPr>
              <a:t>⚡ Este proyecto usa mapeo manual a propósito; MapStruct queda como alternativa a evaluar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02920" y="6528816"/>
            <a:ext cx="5486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D8A9A"/>
                </a:solidFill>
              </a:rPr>
              <a:t>Motor de Scoring Crediticio  |  Arquitectura Hexagonal</a:t>
            </a:r>
            <a:endParaRPr lang="en-US" sz="7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6C7E8"/>
          </a:solidFill>
          <a:ln w="12700">
            <a:solidFill>
              <a:srgbClr val="16C7E8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71A2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Flujo de evaluación: ejemplo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1155680" y="34747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B5CAB"/>
                </a:solidFill>
              </a:rPr>
              <a:t>11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21208" y="75895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40" dirty="0">
                <a:solidFill>
                  <a:srgbClr val="16C7E8"/>
                </a:solidFill>
              </a:rPr>
              <a:t>CASO SOL-001</a:t>
            </a:r>
            <a:endParaRPr lang="en-US" sz="800" dirty="0"/>
          </a:p>
        </p:txBody>
      </p:sp>
      <p:pic>
        <p:nvPicPr>
          <p:cNvPr id="6" name="Image 0" descr="/mnt/data/c81ea3360a.png"/>
          <p:cNvPicPr>
            <a:picLocks noChangeAspect="1"/>
          </p:cNvPicPr>
          <p:nvPr/>
        </p:nvPicPr>
        <p:blipFill>
          <a:blip r:embed="rId3"/>
          <a:srcRect l="8333" r="8333"/>
          <a:stretch/>
        </p:blipFill>
        <p:spPr>
          <a:xfrm>
            <a:off x="6903720" y="1097280"/>
            <a:ext cx="4800600" cy="38404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94360" y="1143000"/>
            <a:ext cx="457200" cy="457200"/>
          </a:xfrm>
          <a:prstGeom prst="ellipse">
            <a:avLst/>
          </a:prstGeom>
          <a:solidFill>
            <a:srgbClr val="0B5CA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8" name="Text 5"/>
          <p:cNvSpPr/>
          <p:nvPr/>
        </p:nvSpPr>
        <p:spPr>
          <a:xfrm>
            <a:off x="612648" y="1280160"/>
            <a:ext cx="4206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88720" y="116128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2238"/>
                </a:solidFill>
              </a:rPr>
              <a:t>Entrada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188720" y="1463040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D6B7E"/>
                </a:solidFill>
              </a:rPr>
              <a:t>POST /api/solicitudes-credito/{id}/evaluar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3566160" y="1143000"/>
            <a:ext cx="457200" cy="457200"/>
          </a:xfrm>
          <a:prstGeom prst="ellipse">
            <a:avLst/>
          </a:prstGeom>
          <a:solidFill>
            <a:srgbClr val="0B5CA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2" name="Text 9"/>
          <p:cNvSpPr/>
          <p:nvPr/>
        </p:nvSpPr>
        <p:spPr>
          <a:xfrm>
            <a:off x="3584448" y="1280160"/>
            <a:ext cx="4206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4160520" y="116128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2238"/>
                </a:solidFill>
              </a:rPr>
              <a:t>Controller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160520" y="1463040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D6B7E"/>
                </a:solidFill>
              </a:rPr>
              <a:t>Recibe y valida DTO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594360" y="2441448"/>
            <a:ext cx="457200" cy="457200"/>
          </a:xfrm>
          <a:prstGeom prst="ellipse">
            <a:avLst/>
          </a:prstGeom>
          <a:solidFill>
            <a:srgbClr val="0B5CA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6" name="Text 13"/>
          <p:cNvSpPr/>
          <p:nvPr/>
        </p:nvSpPr>
        <p:spPr>
          <a:xfrm>
            <a:off x="612648" y="2578608"/>
            <a:ext cx="4206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88720" y="2459736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2238"/>
                </a:solidFill>
              </a:rPr>
              <a:t>Use Case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1188720" y="2761488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D6B7E"/>
                </a:solidFill>
              </a:rPr>
              <a:t>Orquesta solicitud + modelo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3566160" y="2441448"/>
            <a:ext cx="457200" cy="457200"/>
          </a:xfrm>
          <a:prstGeom prst="ellipse">
            <a:avLst/>
          </a:prstGeom>
          <a:solidFill>
            <a:srgbClr val="0B5CA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0" name="Text 17"/>
          <p:cNvSpPr/>
          <p:nvPr/>
        </p:nvSpPr>
        <p:spPr>
          <a:xfrm>
            <a:off x="3584448" y="2578608"/>
            <a:ext cx="4206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4160520" y="2459736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2238"/>
                </a:solidFill>
              </a:rPr>
              <a:t>Domain Service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4160520" y="2761488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D6B7E"/>
                </a:solidFill>
              </a:rPr>
              <a:t>Calcula puntaje y resultado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594360" y="3739896"/>
            <a:ext cx="457200" cy="457200"/>
          </a:xfrm>
          <a:prstGeom prst="ellipse">
            <a:avLst/>
          </a:prstGeom>
          <a:solidFill>
            <a:srgbClr val="0B5CA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4" name="Text 21"/>
          <p:cNvSpPr/>
          <p:nvPr/>
        </p:nvSpPr>
        <p:spPr>
          <a:xfrm>
            <a:off x="612648" y="3877056"/>
            <a:ext cx="4206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5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1188720" y="3758184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2238"/>
                </a:solidFill>
              </a:rPr>
              <a:t>Repository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1188720" y="4059936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D6B7E"/>
                </a:solidFill>
              </a:rPr>
              <a:t>Mapper → Document/Entity → MongoDB/H2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3566160" y="3739896"/>
            <a:ext cx="457200" cy="457200"/>
          </a:xfrm>
          <a:prstGeom prst="ellipse">
            <a:avLst/>
          </a:prstGeom>
          <a:solidFill>
            <a:srgbClr val="20C99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8" name="Text 25"/>
          <p:cNvSpPr/>
          <p:nvPr/>
        </p:nvSpPr>
        <p:spPr>
          <a:xfrm>
            <a:off x="3584448" y="3877056"/>
            <a:ext cx="4206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6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4160520" y="3758184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2238"/>
                </a:solidFill>
              </a:rPr>
              <a:t>Respuesta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4160520" y="4059936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D6B7E"/>
                </a:solidFill>
              </a:rPr>
              <a:t>989 · PREAPROBADA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6903720" y="5166360"/>
            <a:ext cx="4800600" cy="731520"/>
          </a:xfrm>
          <a:prstGeom prst="roundRect">
            <a:avLst/>
          </a:prstGeom>
          <a:solidFill>
            <a:srgbClr val="071A2E"/>
          </a:solidFill>
          <a:ln w="12700">
            <a:solidFill>
              <a:srgbClr val="16C7E8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2" name="Text 29"/>
          <p:cNvSpPr/>
          <p:nvPr/>
        </p:nvSpPr>
        <p:spPr>
          <a:xfrm>
            <a:off x="7132320" y="5431536"/>
            <a:ext cx="4343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{ "puntajeTotal": 989, "resultado": "PREAPROBADA" }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502920" y="6528816"/>
            <a:ext cx="5486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D8A9A"/>
                </a:solidFill>
              </a:rPr>
              <a:t>Motor de Scoring Crediticio  |  Arquitectura Hexagonal</a:t>
            </a:r>
            <a:endParaRPr lang="en-US" sz="7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6C7E8"/>
          </a:solidFill>
          <a:ln w="12700">
            <a:solidFill>
              <a:srgbClr val="16C7E8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71A2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Ventajas de esta arquitectura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1155680" y="34747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B5CAB"/>
                </a:solidFill>
              </a:rPr>
              <a:t>12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21208" y="75895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40" dirty="0">
                <a:solidFill>
                  <a:srgbClr val="16C7E8"/>
                </a:solidFill>
              </a:rPr>
              <a:t>VALOR TÉCNICO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94360" y="1143000"/>
            <a:ext cx="342900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7" name="Shape 5"/>
          <p:cNvSpPr/>
          <p:nvPr/>
        </p:nvSpPr>
        <p:spPr>
          <a:xfrm>
            <a:off x="594360" y="1143000"/>
            <a:ext cx="64008" cy="1874520"/>
          </a:xfrm>
          <a:prstGeom prst="rect">
            <a:avLst/>
          </a:prstGeom>
          <a:solidFill>
            <a:srgbClr val="0B5CAB"/>
          </a:solidFill>
          <a:ln w="12700">
            <a:solidFill>
              <a:srgbClr val="0B5CAB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8" name="Text 6"/>
          <p:cNvSpPr/>
          <p:nvPr/>
        </p:nvSpPr>
        <p:spPr>
          <a:xfrm>
            <a:off x="795528" y="1307592"/>
            <a:ext cx="3044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71A2E"/>
                </a:solidFill>
              </a:rPr>
              <a:t>DESACOPLAMIENTO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95528" y="1673352"/>
            <a:ext cx="3044952" cy="12161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D6B7E"/>
                </a:solidFill>
              </a:rPr>
              <a:t>MongoDB ↔ H2 sin tocar Domain (ya implementado)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416552" y="1143000"/>
            <a:ext cx="342900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11" name="Shape 9"/>
          <p:cNvSpPr/>
          <p:nvPr/>
        </p:nvSpPr>
        <p:spPr>
          <a:xfrm>
            <a:off x="4416552" y="1143000"/>
            <a:ext cx="64008" cy="1874520"/>
          </a:xfrm>
          <a:prstGeom prst="rect">
            <a:avLst/>
          </a:prstGeom>
          <a:solidFill>
            <a:srgbClr val="20C997"/>
          </a:solidFill>
          <a:ln w="12700">
            <a:solidFill>
              <a:srgbClr val="20C99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2" name="Text 10"/>
          <p:cNvSpPr/>
          <p:nvPr/>
        </p:nvSpPr>
        <p:spPr>
          <a:xfrm>
            <a:off x="4617720" y="1307592"/>
            <a:ext cx="3044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71A2E"/>
                </a:solidFill>
              </a:rPr>
              <a:t>TESTABILIDAD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617720" y="1673352"/>
            <a:ext cx="3044952" cy="12161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D6B7E"/>
                </a:solidFill>
              </a:rPr>
              <a:t>Mocks y unit tests sin base de datos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238744" y="1143000"/>
            <a:ext cx="342900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15" name="Shape 13"/>
          <p:cNvSpPr/>
          <p:nvPr/>
        </p:nvSpPr>
        <p:spPr>
          <a:xfrm>
            <a:off x="8238744" y="1143000"/>
            <a:ext cx="64008" cy="1874520"/>
          </a:xfrm>
          <a:prstGeom prst="rect">
            <a:avLst/>
          </a:prstGeom>
          <a:solidFill>
            <a:srgbClr val="8667E8"/>
          </a:solidFill>
          <a:ln w="12700">
            <a:solidFill>
              <a:srgbClr val="8667E8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6" name="Text 14"/>
          <p:cNvSpPr/>
          <p:nvPr/>
        </p:nvSpPr>
        <p:spPr>
          <a:xfrm>
            <a:off x="8439912" y="1307592"/>
            <a:ext cx="3044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71A2E"/>
                </a:solidFill>
              </a:rPr>
              <a:t>MANTENIBILIDAD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439912" y="1673352"/>
            <a:ext cx="3044952" cy="12161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D6B7E"/>
                </a:solidFill>
              </a:rPr>
              <a:t>Reglas de negocio limpias y localizables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94360" y="3474720"/>
            <a:ext cx="342900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19" name="Shape 17"/>
          <p:cNvSpPr/>
          <p:nvPr/>
        </p:nvSpPr>
        <p:spPr>
          <a:xfrm>
            <a:off x="594360" y="3474720"/>
            <a:ext cx="64008" cy="1874520"/>
          </a:xfrm>
          <a:prstGeom prst="rect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0" name="Text 18"/>
          <p:cNvSpPr/>
          <p:nvPr/>
        </p:nvSpPr>
        <p:spPr>
          <a:xfrm>
            <a:off x="795528" y="3639312"/>
            <a:ext cx="3044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71A2E"/>
                </a:solidFill>
              </a:rPr>
              <a:t>ESCALABILIDAD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95528" y="4005072"/>
            <a:ext cx="3044952" cy="12161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D6B7E"/>
                </a:solidFill>
              </a:rPr>
              <a:t>Nuevos adapters de salida sin tocar Domain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416552" y="3474720"/>
            <a:ext cx="342900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23" name="Shape 21"/>
          <p:cNvSpPr/>
          <p:nvPr/>
        </p:nvSpPr>
        <p:spPr>
          <a:xfrm>
            <a:off x="4416552" y="3474720"/>
            <a:ext cx="64008" cy="1874520"/>
          </a:xfrm>
          <a:prstGeom prst="rect">
            <a:avLst/>
          </a:prstGeom>
          <a:solidFill>
            <a:srgbClr val="16C7E8"/>
          </a:solidFill>
          <a:ln w="12700">
            <a:solidFill>
              <a:srgbClr val="16C7E8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4" name="Text 22"/>
          <p:cNvSpPr/>
          <p:nvPr/>
        </p:nvSpPr>
        <p:spPr>
          <a:xfrm>
            <a:off x="4617720" y="3639312"/>
            <a:ext cx="3044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71A2E"/>
                </a:solidFill>
              </a:rPr>
              <a:t>REUTILIZACIÓN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617720" y="4005072"/>
            <a:ext cx="3044952" cy="12161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D6B7E"/>
                </a:solidFill>
              </a:rPr>
              <a:t>Mismo Domain sirve a cualquier adaptador de entrada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8238744" y="3474720"/>
            <a:ext cx="342900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27" name="Shape 25"/>
          <p:cNvSpPr/>
          <p:nvPr/>
        </p:nvSpPr>
        <p:spPr>
          <a:xfrm>
            <a:off x="8238744" y="3474720"/>
            <a:ext cx="64008" cy="1874520"/>
          </a:xfrm>
          <a:prstGeom prst="rect">
            <a:avLst/>
          </a:prstGeom>
          <a:solidFill>
            <a:srgbClr val="E85D75"/>
          </a:solidFill>
          <a:ln w="12700">
            <a:solidFill>
              <a:srgbClr val="E85D75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8" name="Text 26"/>
          <p:cNvSpPr/>
          <p:nvPr/>
        </p:nvSpPr>
        <p:spPr>
          <a:xfrm>
            <a:off x="8439912" y="3639312"/>
            <a:ext cx="3044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71A2E"/>
                </a:solidFill>
              </a:rPr>
              <a:t>INDEPENDENCIA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439912" y="4005072"/>
            <a:ext cx="3044952" cy="12161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D6B7E"/>
                </a:solidFill>
              </a:rPr>
              <a:t>El negocio no depende del framework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502920" y="6528816"/>
            <a:ext cx="5486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D8A9A"/>
                </a:solidFill>
              </a:rPr>
              <a:t>Motor de Scoring Crediticio  |  Arquitectura Hexagonal</a:t>
            </a:r>
            <a:endParaRPr lang="en-US" sz="7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6C7E8"/>
          </a:solidFill>
          <a:ln w="12700">
            <a:solidFill>
              <a:srgbClr val="16C7E8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71A2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Desafíos y consideraciones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1155680" y="34747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B5CAB"/>
                </a:solidFill>
              </a:rPr>
              <a:t>13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21208" y="75895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40" dirty="0">
                <a:solidFill>
                  <a:srgbClr val="16C7E8"/>
                </a:solidFill>
              </a:rPr>
              <a:t>TRADE-OFFS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94360" y="1097280"/>
            <a:ext cx="52578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7" name="Shape 5"/>
          <p:cNvSpPr/>
          <p:nvPr/>
        </p:nvSpPr>
        <p:spPr>
          <a:xfrm>
            <a:off x="594360" y="1097280"/>
            <a:ext cx="64008" cy="1234440"/>
          </a:xfrm>
          <a:prstGeom prst="rect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8" name="Text 6"/>
          <p:cNvSpPr/>
          <p:nvPr/>
        </p:nvSpPr>
        <p:spPr>
          <a:xfrm>
            <a:off x="795528" y="1261872"/>
            <a:ext cx="4873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71A2E"/>
                </a:solidFill>
              </a:rPr>
              <a:t>⚠ Complejidad inicial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95528" y="1627632"/>
            <a:ext cx="4873752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D6B7E"/>
                </a:solidFill>
              </a:rPr>
              <a:t>Más capas y disciplina de diseño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17920" y="1097280"/>
            <a:ext cx="52578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11" name="Shape 9"/>
          <p:cNvSpPr/>
          <p:nvPr/>
        </p:nvSpPr>
        <p:spPr>
          <a:xfrm>
            <a:off x="6217920" y="1097280"/>
            <a:ext cx="64008" cy="1234440"/>
          </a:xfrm>
          <a:prstGeom prst="rect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2" name="Text 10"/>
          <p:cNvSpPr/>
          <p:nvPr/>
        </p:nvSpPr>
        <p:spPr>
          <a:xfrm>
            <a:off x="6419088" y="1261872"/>
            <a:ext cx="4873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71A2E"/>
                </a:solidFill>
              </a:rPr>
              <a:t>⚠ Inversión de dependencias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19088" y="1627632"/>
            <a:ext cx="4873752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D6B7E"/>
                </a:solidFill>
              </a:rPr>
              <a:t>Interfaces y mappers adicionales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94360" y="2606040"/>
            <a:ext cx="52578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15" name="Shape 13"/>
          <p:cNvSpPr/>
          <p:nvPr/>
        </p:nvSpPr>
        <p:spPr>
          <a:xfrm>
            <a:off x="594360" y="2606040"/>
            <a:ext cx="64008" cy="1234440"/>
          </a:xfrm>
          <a:prstGeom prst="rect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6" name="Text 14"/>
          <p:cNvSpPr/>
          <p:nvPr/>
        </p:nvSpPr>
        <p:spPr>
          <a:xfrm>
            <a:off x="795528" y="2770632"/>
            <a:ext cx="4873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71A2E"/>
                </a:solidFill>
              </a:rPr>
              <a:t>⚠ Curva de aprendizaje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95528" y="3136392"/>
            <a:ext cx="4873752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D6B7E"/>
                </a:solidFill>
              </a:rPr>
              <a:t>Agregados, VOs, puertos y adaptadores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217920" y="2606040"/>
            <a:ext cx="52578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19" name="Shape 17"/>
          <p:cNvSpPr/>
          <p:nvPr/>
        </p:nvSpPr>
        <p:spPr>
          <a:xfrm>
            <a:off x="6217920" y="2606040"/>
            <a:ext cx="64008" cy="1234440"/>
          </a:xfrm>
          <a:prstGeom prst="rect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0" name="Text 18"/>
          <p:cNvSpPr/>
          <p:nvPr/>
        </p:nvSpPr>
        <p:spPr>
          <a:xfrm>
            <a:off x="6419088" y="2770632"/>
            <a:ext cx="4873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71A2E"/>
                </a:solidFill>
              </a:rPr>
              <a:t>⚠ Performance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19088" y="3136392"/>
            <a:ext cx="4873752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D6B7E"/>
                </a:solidFill>
              </a:rPr>
              <a:t>Más llamadas, normalmente marginales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94360" y="4315968"/>
            <a:ext cx="10881360" cy="1234440"/>
          </a:xfrm>
          <a:prstGeom prst="roundRect">
            <a:avLst/>
          </a:prstGeom>
          <a:solidFill>
            <a:srgbClr val="E8FAF5"/>
          </a:solidFill>
          <a:ln w="19050">
            <a:solidFill>
              <a:srgbClr val="20C99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3" name="Text 21"/>
          <p:cNvSpPr/>
          <p:nvPr/>
        </p:nvSpPr>
        <p:spPr>
          <a:xfrm>
            <a:off x="868680" y="459028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0C997"/>
                </a:solidFill>
              </a:rPr>
              <a:t>SOLUCIONES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2331720" y="4553712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52238"/>
                </a:solidFill>
              </a:rPr>
              <a:t>MapStruct · patrones documentados · code reviews · arquetipo Maven · observabilidad y caché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02920" y="6528816"/>
            <a:ext cx="5486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D8A9A"/>
                </a:solidFill>
              </a:rPr>
              <a:t>Motor de Scoring Crediticio  |  Arquitectura Hexagonal</a:t>
            </a:r>
            <a:endParaRPr lang="en-US" sz="7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6C7E8"/>
          </a:solidFill>
          <a:ln w="12700">
            <a:solidFill>
              <a:srgbClr val="16C7E8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71A2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Tecnologías en acción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1155680" y="34747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B5CAB"/>
                </a:solidFill>
              </a:rPr>
              <a:t>14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21208" y="75895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40" dirty="0">
                <a:solidFill>
                  <a:srgbClr val="16C7E8"/>
                </a:solidFill>
              </a:rPr>
              <a:t>IMPLEMENTACIÓN</a:t>
            </a:r>
            <a:endParaRPr lang="en-US" sz="800" dirty="0"/>
          </a:p>
        </p:txBody>
      </p:sp>
      <p:pic>
        <p:nvPicPr>
          <p:cNvPr id="6" name="Image 0" descr="/mnt/data/51a7826bae.png"/>
          <p:cNvPicPr>
            <a:picLocks noChangeAspect="1"/>
          </p:cNvPicPr>
          <p:nvPr/>
        </p:nvPicPr>
        <p:blipFill>
          <a:blip r:embed="rId3"/>
          <a:srcRect l="19027" r="19027"/>
          <a:stretch/>
        </p:blipFill>
        <p:spPr>
          <a:xfrm>
            <a:off x="6903720" y="1051560"/>
            <a:ext cx="4800600" cy="5166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94360" y="1097280"/>
            <a:ext cx="589788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8" name="Text 5"/>
          <p:cNvSpPr/>
          <p:nvPr/>
        </p:nvSpPr>
        <p:spPr>
          <a:xfrm>
            <a:off x="822960" y="1243584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5CAB"/>
                </a:solidFill>
              </a:rPr>
              <a:t>SPRING BOOT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2743200" y="1225296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D6B7E"/>
                </a:solidFill>
              </a:rPr>
              <a:t>@SpringBootApplication · @Service · @Repository · @RestController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594360" y="2084832"/>
            <a:ext cx="589788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1" name="Text 8"/>
          <p:cNvSpPr/>
          <p:nvPr/>
        </p:nvSpPr>
        <p:spPr>
          <a:xfrm>
            <a:off x="822960" y="2231136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5CAB"/>
                </a:solidFill>
              </a:rPr>
              <a:t>SPRING DATA MONGODB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2743200" y="2212848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D6B7E"/>
                </a:solidFill>
              </a:rPr>
              <a:t>MongoRepository · @Document · queries derivadas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594360" y="3072384"/>
            <a:ext cx="589788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0C99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4" name="Text 11"/>
          <p:cNvSpPr/>
          <p:nvPr/>
        </p:nvSpPr>
        <p:spPr>
          <a:xfrm>
            <a:off x="822960" y="321868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0C997"/>
                </a:solidFill>
              </a:rPr>
              <a:t>SPRING DATA JPA + H2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2743200" y="320040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D6B7E"/>
                </a:solidFill>
              </a:rPr>
              <a:t>@Profile("h2") · JpaRepository · Flyway migrations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594360" y="4059936"/>
            <a:ext cx="589788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7" name="Text 14"/>
          <p:cNvSpPr/>
          <p:nvPr/>
        </p:nvSpPr>
        <p:spPr>
          <a:xfrm>
            <a:off x="822960" y="420624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5CAB"/>
                </a:solidFill>
              </a:rPr>
              <a:t>DOCKER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2743200" y="418795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D6B7E"/>
                </a:solidFill>
              </a:rPr>
              <a:t>Compose · contenedores · ambiente reproducible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594360" y="5047488"/>
            <a:ext cx="589788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0" name="Text 17"/>
          <p:cNvSpPr/>
          <p:nvPr/>
        </p:nvSpPr>
        <p:spPr>
          <a:xfrm>
            <a:off x="822960" y="519379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5CAB"/>
                </a:solidFill>
              </a:rPr>
              <a:t>MAVEN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2743200" y="5175504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D6B7E"/>
                </a:solidFill>
              </a:rPr>
              <a:t>Multi-module · BOM · plugins centralizados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502920" y="6528816"/>
            <a:ext cx="5486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D8A9A"/>
                </a:solidFill>
              </a:rPr>
              <a:t>Motor de Scoring Crediticio  |  Arquitectura Hexagonal</a:t>
            </a:r>
            <a:endParaRPr lang="en-US" sz="7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6C7E8"/>
          </a:solidFill>
          <a:ln w="12700">
            <a:solidFill>
              <a:srgbClr val="16C7E8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71A2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Docker Compose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1155680" y="34747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B5CAB"/>
                </a:solidFill>
              </a:rPr>
              <a:t>15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21208" y="75895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40" dirty="0">
                <a:solidFill>
                  <a:srgbClr val="16C7E8"/>
                </a:solidFill>
              </a:rPr>
              <a:t>STACK REPRODUCIBLE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94360" y="1051560"/>
            <a:ext cx="6812280" cy="5257800"/>
          </a:xfrm>
          <a:prstGeom prst="roundRect">
            <a:avLst/>
          </a:prstGeom>
          <a:solidFill>
            <a:srgbClr val="0D1B2A"/>
          </a:solidFill>
          <a:ln w="12700">
            <a:solidFill>
              <a:srgbClr val="16C7E8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7" name="Text 5"/>
          <p:cNvSpPr/>
          <p:nvPr/>
        </p:nvSpPr>
        <p:spPr>
          <a:xfrm>
            <a:off x="868680" y="1325880"/>
            <a:ext cx="6263640" cy="4663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version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'3.8'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services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mongodb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image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mongo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8.0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ports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"27017:27017"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environment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MONGO_INITDB_ROOT_USERNAME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root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MONGO_INITDB_ROOT_PASSWORD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password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volumes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mongodb_data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/data/db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motor-scoring-api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build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.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ports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"8080:8080"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depends_on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mongodb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environment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SPRING_DATA_MONGODB_URI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mongodb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//root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password@mongodb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27017/scoring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818120" y="1417320"/>
            <a:ext cx="3520440" cy="3154680"/>
          </a:xfrm>
          <a:prstGeom prst="roundRect">
            <a:avLst/>
          </a:prstGeom>
          <a:solidFill>
            <a:srgbClr val="071A2E"/>
          </a:solidFill>
          <a:ln w="19050">
            <a:solidFill>
              <a:srgbClr val="20C99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9" name="Text 7"/>
          <p:cNvSpPr/>
          <p:nvPr/>
        </p:nvSpPr>
        <p:spPr>
          <a:xfrm>
            <a:off x="8321040" y="1874520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</a:rPr>
              <a:t>UN COMANDO</a:t>
            </a:r>
            <a:endParaRPr lang="en-US" sz="2100" dirty="0"/>
          </a:p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</a:rPr>
              <a:t>LEVANTA TODO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8183880" y="3182112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0C99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$ docker compose up -d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75320" y="489204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D6B7E"/>
                </a:solidFill>
              </a:rPr>
              <a:t>Aplicación + MongoDB (replica set rs0) + red interna + volumen. Existe un segundo docker-compose.h2.yml para el perfil h2.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6528816"/>
            <a:ext cx="5486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D8A9A"/>
                </a:solidFill>
              </a:rPr>
              <a:t>Motor de Scoring Crediticio  |  Arquitectura Hexagonal</a:t>
            </a:r>
            <a:endParaRPr lang="en-US" sz="7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6C7E8"/>
          </a:solidFill>
          <a:ln w="12700">
            <a:solidFill>
              <a:srgbClr val="16C7E8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71A2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Testing strategy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1155680" y="34747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B5CAB"/>
                </a:solidFill>
              </a:rPr>
              <a:t>16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21208" y="75895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40" dirty="0">
                <a:solidFill>
                  <a:srgbClr val="16C7E8"/>
                </a:solidFill>
              </a:rPr>
              <a:t>CALIDAD POR CAPAS</a:t>
            </a:r>
            <a:endParaRPr lang="en-US" sz="800" dirty="0"/>
          </a:p>
        </p:txBody>
      </p:sp>
      <p:pic>
        <p:nvPicPr>
          <p:cNvPr id="6" name="Image 0" descr="/mnt/data/86e72f55a6.png"/>
          <p:cNvPicPr>
            <a:picLocks noChangeAspect="1"/>
          </p:cNvPicPr>
          <p:nvPr/>
        </p:nvPicPr>
        <p:blipFill>
          <a:blip r:embed="rId3"/>
          <a:srcRect l="19253" r="19253"/>
          <a:stretch/>
        </p:blipFill>
        <p:spPr>
          <a:xfrm>
            <a:off x="6858000" y="1051560"/>
            <a:ext cx="4892040" cy="53035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94360" y="1143000"/>
            <a:ext cx="5806440" cy="1234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0C99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8" name="Text 5"/>
          <p:cNvSpPr/>
          <p:nvPr/>
        </p:nvSpPr>
        <p:spPr>
          <a:xfrm>
            <a:off x="868680" y="130759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0C997"/>
                </a:solidFill>
              </a:rPr>
              <a:t>UNIT TESTS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2834640" y="1307592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2238"/>
                </a:solidFill>
              </a:rPr>
              <a:t>Domain Services sin BD + ArchUnit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2834640" y="1719072"/>
            <a:ext cx="3154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D6B7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EvaluacionService → PREAPROBADA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594360" y="2697480"/>
            <a:ext cx="5806440" cy="1234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B5CAB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2" name="Text 9"/>
          <p:cNvSpPr/>
          <p:nvPr/>
        </p:nvSpPr>
        <p:spPr>
          <a:xfrm>
            <a:off x="868680" y="286207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5CAB"/>
                </a:solidFill>
              </a:rPr>
              <a:t>INTEGRATION TESTS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2834640" y="2862072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2238"/>
                </a:solidFill>
              </a:rPr>
              <a:t>MongoDB con TestContainers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2834640" y="3273552"/>
            <a:ext cx="3154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D6B7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guardarYRecuperarSolicitud()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594360" y="4251960"/>
            <a:ext cx="5806440" cy="1234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8667E8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6" name="Text 13"/>
          <p:cNvSpPr/>
          <p:nvPr/>
        </p:nvSpPr>
        <p:spPr>
          <a:xfrm>
            <a:off x="868680" y="441655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667E8"/>
                </a:solidFill>
              </a:rPr>
              <a:t>E2E TESTS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2834640" y="4416552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2238"/>
                </a:solidFill>
              </a:rPr>
              <a:t>API → aplicación → BD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2834640" y="4828032"/>
            <a:ext cx="3154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D6B7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POST /solicitudes-credito/evaluar → 200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502920" y="6528816"/>
            <a:ext cx="5486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D8A9A"/>
                </a:solidFill>
              </a:rPr>
              <a:t>Motor de Scoring Crediticio  |  Arquitectura Hexagonal</a:t>
            </a:r>
            <a:endParaRPr lang="en-US" sz="7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6C7E8"/>
          </a:solidFill>
          <a:ln w="12700">
            <a:solidFill>
              <a:srgbClr val="16C7E8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71A2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Ejemplo de código: Domain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1155680" y="34747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B5CAB"/>
                </a:solidFill>
              </a:rPr>
              <a:t>17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21208" y="75895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40" dirty="0">
                <a:solidFill>
                  <a:srgbClr val="16C7E8"/>
                </a:solidFill>
              </a:rPr>
              <a:t>NEGOCIO PURO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94360" y="1051560"/>
            <a:ext cx="7452360" cy="5303520"/>
          </a:xfrm>
          <a:prstGeom prst="roundRect">
            <a:avLst/>
          </a:prstGeom>
          <a:solidFill>
            <a:srgbClr val="0D1B2A"/>
          </a:solidFill>
          <a:ln w="12700">
            <a:solidFill>
              <a:srgbClr val="F4B942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7" name="Text 5"/>
          <p:cNvSpPr/>
          <p:nvPr/>
        </p:nvSpPr>
        <p:spPr>
          <a:xfrm>
            <a:off x="868680" y="1298448"/>
            <a:ext cx="6903720" cy="4800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SolicitudCredito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Long id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Dinero montoSolicitado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Solicitante solicitante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validar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montoSolicitado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esMenorA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Dinero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MINIMO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throw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DomainException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"Monto insuficiente"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Dinero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BigDecimal monto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Moneda moneda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Dinero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BigDecimal monto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Moneda moneda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monto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compareTo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ZERO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0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throw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DomainException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"Monto debe ser positivo"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20" dirty="0"/>
          </a:p>
        </p:txBody>
      </p:sp>
      <p:sp>
        <p:nvSpPr>
          <p:cNvPr id="8" name="Shape 6"/>
          <p:cNvSpPr/>
          <p:nvPr/>
        </p:nvSpPr>
        <p:spPr>
          <a:xfrm>
            <a:off x="8366760" y="1234440"/>
            <a:ext cx="31546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9" name="Shape 7"/>
          <p:cNvSpPr/>
          <p:nvPr/>
        </p:nvSpPr>
        <p:spPr>
          <a:xfrm>
            <a:off x="8366760" y="1234440"/>
            <a:ext cx="64008" cy="1234440"/>
          </a:xfrm>
          <a:prstGeom prst="rect">
            <a:avLst/>
          </a:prstGeom>
          <a:solidFill>
            <a:srgbClr val="20C997"/>
          </a:solidFill>
          <a:ln w="12700">
            <a:solidFill>
              <a:srgbClr val="20C99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0" name="Text 8"/>
          <p:cNvSpPr/>
          <p:nvPr/>
        </p:nvSpPr>
        <p:spPr>
          <a:xfrm>
            <a:off x="8567928" y="1399032"/>
            <a:ext cx="2770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71A2E"/>
                </a:solidFill>
              </a:rPr>
              <a:t>SIN DEPENDENCIAS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567928" y="1764792"/>
            <a:ext cx="2770632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D6B7E"/>
                </a:solidFill>
              </a:rPr>
              <a:t>No importa Spring, MongoDB ni HTTP.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366760" y="2788920"/>
            <a:ext cx="31546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13" name="Shape 11"/>
          <p:cNvSpPr/>
          <p:nvPr/>
        </p:nvSpPr>
        <p:spPr>
          <a:xfrm>
            <a:off x="8366760" y="2788920"/>
            <a:ext cx="64008" cy="1234440"/>
          </a:xfrm>
          <a:prstGeom prst="rect">
            <a:avLst/>
          </a:prstGeom>
          <a:solidFill>
            <a:srgbClr val="0B5CAB"/>
          </a:solidFill>
          <a:ln w="12700">
            <a:solidFill>
              <a:srgbClr val="0B5CAB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4" name="Text 12"/>
          <p:cNvSpPr/>
          <p:nvPr/>
        </p:nvSpPr>
        <p:spPr>
          <a:xfrm>
            <a:off x="8567928" y="2953512"/>
            <a:ext cx="2770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71A2E"/>
                </a:solidFill>
              </a:rPr>
              <a:t>VALUE OBJECT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567928" y="3319272"/>
            <a:ext cx="2770632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D6B7E"/>
                </a:solidFill>
              </a:rPr>
              <a:t>Dinero protege invariantes desde su construcción.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366760" y="4343400"/>
            <a:ext cx="31546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17" name="Shape 15"/>
          <p:cNvSpPr/>
          <p:nvPr/>
        </p:nvSpPr>
        <p:spPr>
          <a:xfrm>
            <a:off x="8366760" y="4343400"/>
            <a:ext cx="64008" cy="1234440"/>
          </a:xfrm>
          <a:prstGeom prst="rect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8" name="Text 16"/>
          <p:cNvSpPr/>
          <p:nvPr/>
        </p:nvSpPr>
        <p:spPr>
          <a:xfrm>
            <a:off x="8567928" y="4507992"/>
            <a:ext cx="2770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71A2E"/>
                </a:solidFill>
              </a:rPr>
              <a:t>COMPORTAMIENTO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567928" y="4873752"/>
            <a:ext cx="2770632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D6B7E"/>
                </a:solidFill>
              </a:rPr>
              <a:t>La entidad contiene reglas, no solo getters/setters.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02920" y="6528816"/>
            <a:ext cx="5486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D8A9A"/>
                </a:solidFill>
              </a:rPr>
              <a:t>Motor de Scoring Crediticio  |  Arquitectura Hexagonal</a:t>
            </a:r>
            <a:endParaRPr lang="en-US" sz="7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6C7E8"/>
          </a:solidFill>
          <a:ln w="12700">
            <a:solidFill>
              <a:srgbClr val="16C7E8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71A2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Ejemplo de código: Adapter Out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1155680" y="34747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B5CAB"/>
                </a:solidFill>
              </a:rPr>
              <a:t>18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21208" y="75895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40" dirty="0">
                <a:solidFill>
                  <a:srgbClr val="16C7E8"/>
                </a:solidFill>
              </a:rPr>
              <a:t>PERSISTENCIA MONGODB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94360" y="1051560"/>
            <a:ext cx="7452360" cy="5303520"/>
          </a:xfrm>
          <a:prstGeom prst="roundRect">
            <a:avLst/>
          </a:prstGeom>
          <a:solidFill>
            <a:srgbClr val="0D1B2A"/>
          </a:solidFill>
          <a:ln w="12700">
            <a:solidFill>
              <a:srgbClr val="20C99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7" name="Text 5"/>
          <p:cNvSpPr/>
          <p:nvPr/>
        </p:nvSpPr>
        <p:spPr>
          <a:xfrm>
            <a:off x="868680" y="1298448"/>
            <a:ext cx="6903720" cy="4754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Mapper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manual, sin anotaciones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SolicitudCreditoMongoMapper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SolicitudCreditoMongoDocument toDocument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SolicitudCredito entity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SolicitudCredito toDomain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SolicitudCreditoMongoDocument doc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@Repository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SolicitudCreditoRepositoryImpl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implements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SolicitudCreditoRepository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SolicitudCreditoMongoRepository mongoRepo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SolicitudCreditoMongoMapper mapper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@Override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guardar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SolicitudCredito solicitud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mongoRepo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save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mapper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toDocument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solicitud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20" dirty="0"/>
          </a:p>
        </p:txBody>
      </p:sp>
      <p:sp>
        <p:nvSpPr>
          <p:cNvPr id="8" name="Shape 6"/>
          <p:cNvSpPr/>
          <p:nvPr/>
        </p:nvSpPr>
        <p:spPr>
          <a:xfrm>
            <a:off x="8458200" y="1325880"/>
            <a:ext cx="269748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0C99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9" name="Text 7"/>
          <p:cNvSpPr/>
          <p:nvPr/>
        </p:nvSpPr>
        <p:spPr>
          <a:xfrm>
            <a:off x="8641080" y="1508760"/>
            <a:ext cx="2331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52238"/>
                </a:solidFill>
              </a:rPr>
              <a:t>Domain Entity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9802368" y="1892808"/>
            <a:ext cx="0" cy="384048"/>
          </a:xfrm>
          <a:prstGeom prst="line">
            <a:avLst/>
          </a:prstGeom>
          <a:noFill/>
          <a:ln w="31750">
            <a:solidFill>
              <a:srgbClr val="20C99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PE"/>
          </a:p>
        </p:txBody>
      </p:sp>
      <p:sp>
        <p:nvSpPr>
          <p:cNvPr id="11" name="Shape 9"/>
          <p:cNvSpPr/>
          <p:nvPr/>
        </p:nvSpPr>
        <p:spPr>
          <a:xfrm>
            <a:off x="8458200" y="2404872"/>
            <a:ext cx="2697480" cy="566928"/>
          </a:xfrm>
          <a:prstGeom prst="roundRect">
            <a:avLst/>
          </a:prstGeom>
          <a:solidFill>
            <a:srgbClr val="20C997"/>
          </a:solidFill>
          <a:ln w="12700">
            <a:solidFill>
              <a:srgbClr val="20C99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2" name="Text 10"/>
          <p:cNvSpPr/>
          <p:nvPr/>
        </p:nvSpPr>
        <p:spPr>
          <a:xfrm>
            <a:off x="8641080" y="2587752"/>
            <a:ext cx="2331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Manual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9802368" y="2971800"/>
            <a:ext cx="0" cy="384048"/>
          </a:xfrm>
          <a:prstGeom prst="line">
            <a:avLst/>
          </a:prstGeom>
          <a:noFill/>
          <a:ln w="31750">
            <a:solidFill>
              <a:srgbClr val="20C99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PE"/>
          </a:p>
        </p:txBody>
      </p:sp>
      <p:sp>
        <p:nvSpPr>
          <p:cNvPr id="14" name="Shape 12"/>
          <p:cNvSpPr/>
          <p:nvPr/>
        </p:nvSpPr>
        <p:spPr>
          <a:xfrm>
            <a:off x="8458200" y="3483864"/>
            <a:ext cx="269748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0C99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5" name="Text 13"/>
          <p:cNvSpPr/>
          <p:nvPr/>
        </p:nvSpPr>
        <p:spPr>
          <a:xfrm>
            <a:off x="8641080" y="3666744"/>
            <a:ext cx="2331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52238"/>
                </a:solidFill>
              </a:rPr>
              <a:t>Mongo Document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9802368" y="4050792"/>
            <a:ext cx="0" cy="384048"/>
          </a:xfrm>
          <a:prstGeom prst="line">
            <a:avLst/>
          </a:prstGeom>
          <a:noFill/>
          <a:ln w="31750">
            <a:solidFill>
              <a:srgbClr val="20C99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PE"/>
          </a:p>
        </p:txBody>
      </p:sp>
      <p:sp>
        <p:nvSpPr>
          <p:cNvPr id="17" name="Shape 15"/>
          <p:cNvSpPr/>
          <p:nvPr/>
        </p:nvSpPr>
        <p:spPr>
          <a:xfrm>
            <a:off x="8458200" y="4562856"/>
            <a:ext cx="269748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0C99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8" name="Text 16"/>
          <p:cNvSpPr/>
          <p:nvPr/>
        </p:nvSpPr>
        <p:spPr>
          <a:xfrm>
            <a:off x="8641080" y="4745736"/>
            <a:ext cx="2331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52238"/>
                </a:solidFill>
              </a:rPr>
              <a:t>MongoRepository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02920" y="6528816"/>
            <a:ext cx="5486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D8A9A"/>
                </a:solidFill>
              </a:rPr>
              <a:t>Motor de Scoring Crediticio  |  Arquitectura Hexagonal</a:t>
            </a:r>
            <a:endParaRPr lang="en-US" sz="7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6C7E8"/>
          </a:solidFill>
          <a:ln w="12700">
            <a:solidFill>
              <a:srgbClr val="16C7E8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71A2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Proyecciones futuras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1155680" y="34747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B5CAB"/>
                </a:solidFill>
              </a:rPr>
              <a:t>19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21208" y="75895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40" dirty="0">
                <a:solidFill>
                  <a:srgbClr val="16C7E8"/>
                </a:solidFill>
              </a:rPr>
              <a:t>ROADMAP</a:t>
            </a:r>
            <a:endParaRPr lang="en-US" sz="800" dirty="0"/>
          </a:p>
        </p:txBody>
      </p:sp>
      <p:pic>
        <p:nvPicPr>
          <p:cNvPr id="6" name="Image 0" descr="/mnt/data/4ff9aa13f4.png"/>
          <p:cNvPicPr>
            <a:picLocks noChangeAspect="1"/>
          </p:cNvPicPr>
          <p:nvPr/>
        </p:nvPicPr>
        <p:blipFill>
          <a:blip r:embed="rId3"/>
          <a:srcRect t="16530" b="16530"/>
          <a:stretch/>
        </p:blipFill>
        <p:spPr>
          <a:xfrm>
            <a:off x="0" y="960120"/>
            <a:ext cx="12191695" cy="54406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0" y="960120"/>
            <a:ext cx="12191695" cy="5440680"/>
          </a:xfrm>
          <a:prstGeom prst="rect">
            <a:avLst/>
          </a:prstGeom>
          <a:solidFill>
            <a:srgbClr val="071A2E">
              <a:alpha val="65000"/>
            </a:srgbClr>
          </a:solidFill>
          <a:ln w="12700">
            <a:solidFill>
              <a:srgbClr val="071A2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8" name="Shape 5"/>
          <p:cNvSpPr/>
          <p:nvPr/>
        </p:nvSpPr>
        <p:spPr>
          <a:xfrm>
            <a:off x="502920" y="1325880"/>
            <a:ext cx="3520440" cy="1554480"/>
          </a:xfrm>
          <a:prstGeom prst="roundRect">
            <a:avLst/>
          </a:prstGeom>
          <a:solidFill>
            <a:srgbClr val="071A2E">
              <a:alpha val="90000"/>
            </a:srgbClr>
          </a:solidFill>
          <a:ln w="17780">
            <a:solidFill>
              <a:srgbClr val="16C7E8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9" name="Text 6"/>
          <p:cNvSpPr/>
          <p:nvPr/>
        </p:nvSpPr>
        <p:spPr>
          <a:xfrm>
            <a:off x="731520" y="1581912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EVENT SOURCING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31520" y="2103120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CEBFA"/>
                </a:solidFill>
              </a:rPr>
              <a:t>Auditoría completa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389120" y="1325880"/>
            <a:ext cx="3520440" cy="1554480"/>
          </a:xfrm>
          <a:prstGeom prst="roundRect">
            <a:avLst/>
          </a:prstGeom>
          <a:solidFill>
            <a:srgbClr val="071A2E">
              <a:alpha val="90000"/>
            </a:srgbClr>
          </a:solidFill>
          <a:ln w="17780">
            <a:solidFill>
              <a:srgbClr val="8667E8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2" name="Text 9"/>
          <p:cNvSpPr/>
          <p:nvPr/>
        </p:nvSpPr>
        <p:spPr>
          <a:xfrm>
            <a:off x="4617720" y="1581912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CACHING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4617720" y="2103120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CEBFA"/>
                </a:solidFill>
              </a:rPr>
              <a:t>Redis y modelos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8275320" y="1325880"/>
            <a:ext cx="3520440" cy="1554480"/>
          </a:xfrm>
          <a:prstGeom prst="roundRect">
            <a:avLst/>
          </a:prstGeom>
          <a:solidFill>
            <a:srgbClr val="071A2E">
              <a:alpha val="90000"/>
            </a:srgbClr>
          </a:solidFill>
          <a:ln w="17780">
            <a:solidFill>
              <a:srgbClr val="16C7E8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5" name="Text 12"/>
          <p:cNvSpPr/>
          <p:nvPr/>
        </p:nvSpPr>
        <p:spPr>
          <a:xfrm>
            <a:off x="8503920" y="1581912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ANALYTICS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8503920" y="2103120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CEBFA"/>
                </a:solidFill>
              </a:rPr>
              <a:t>Métricas + dashboards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502920" y="3657600"/>
            <a:ext cx="3520440" cy="1554480"/>
          </a:xfrm>
          <a:prstGeom prst="roundRect">
            <a:avLst/>
          </a:prstGeom>
          <a:solidFill>
            <a:srgbClr val="071A2E">
              <a:alpha val="90000"/>
            </a:srgbClr>
          </a:solidFill>
          <a:ln w="17780">
            <a:solidFill>
              <a:srgbClr val="8667E8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8" name="Text 15"/>
          <p:cNvSpPr/>
          <p:nvPr/>
        </p:nvSpPr>
        <p:spPr>
          <a:xfrm>
            <a:off x="731520" y="3913632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SEGURIDAD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731520" y="4434840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CEBFA"/>
                </a:solidFill>
              </a:rPr>
              <a:t>JWT + audit logs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389120" y="3657600"/>
            <a:ext cx="3520440" cy="1554480"/>
          </a:xfrm>
          <a:prstGeom prst="roundRect">
            <a:avLst/>
          </a:prstGeom>
          <a:solidFill>
            <a:srgbClr val="071A2E">
              <a:alpha val="90000"/>
            </a:srgbClr>
          </a:solidFill>
          <a:ln w="17780">
            <a:solidFill>
              <a:srgbClr val="16C7E8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1" name="Text 18"/>
          <p:cNvSpPr/>
          <p:nvPr/>
        </p:nvSpPr>
        <p:spPr>
          <a:xfrm>
            <a:off x="4617720" y="3913632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TESTING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4617720" y="4434840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CEBFA"/>
                </a:solidFill>
              </a:rPr>
              <a:t>Mutation + performance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8275320" y="3657600"/>
            <a:ext cx="3520440" cy="1554480"/>
          </a:xfrm>
          <a:prstGeom prst="roundRect">
            <a:avLst/>
          </a:prstGeom>
          <a:solidFill>
            <a:srgbClr val="071A2E">
              <a:alpha val="90000"/>
            </a:srgbClr>
          </a:solidFill>
          <a:ln w="17780">
            <a:solidFill>
              <a:srgbClr val="8667E8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4" name="Text 21"/>
          <p:cNvSpPr/>
          <p:nvPr/>
        </p:nvSpPr>
        <p:spPr>
          <a:xfrm>
            <a:off x="8503920" y="3913632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EXPANSIÓN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8503920" y="4434840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CEBFA"/>
                </a:solidFill>
              </a:rPr>
              <a:t>Nuevo adapter de entrada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502920" y="6528816"/>
            <a:ext cx="5486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D8A9A"/>
                </a:solidFill>
              </a:rPr>
              <a:t>Motor de Scoring Crediticio  |  Arquitectura Hexagonal</a:t>
            </a:r>
            <a:endParaRPr lang="en-US" sz="7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6C7E8"/>
          </a:solidFill>
          <a:ln w="12700">
            <a:solidFill>
              <a:srgbClr val="16C7E8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71A2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Conclusiones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1155680" y="34747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B5CAB"/>
                </a:solidFill>
              </a:rPr>
              <a:t>20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21208" y="75895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40" dirty="0">
                <a:solidFill>
                  <a:srgbClr val="16C7E8"/>
                </a:solidFill>
              </a:rPr>
              <a:t>RESULTADO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640080" y="1143000"/>
            <a:ext cx="5349240" cy="4434840"/>
          </a:xfrm>
          <a:prstGeom prst="roundRect">
            <a:avLst/>
          </a:prstGeom>
          <a:solidFill>
            <a:srgbClr val="071A2E"/>
          </a:solidFill>
          <a:ln w="19050">
            <a:solidFill>
              <a:srgbClr val="16C7E8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7" name="Text 5"/>
          <p:cNvSpPr/>
          <p:nvPr/>
        </p:nvSpPr>
        <p:spPr>
          <a:xfrm>
            <a:off x="1234440" y="1600200"/>
            <a:ext cx="4160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FFFFFF"/>
                </a:solidFill>
              </a:rPr>
              <a:t>ARQUITECTURA</a:t>
            </a:r>
            <a:endParaRPr lang="en-US" sz="2500" dirty="0"/>
          </a:p>
          <a:p>
            <a:pPr marL="0" indent="0" algn="ctr">
              <a:buNone/>
            </a:pPr>
            <a:r>
              <a:rPr lang="en-US" sz="2500" b="1" dirty="0">
                <a:solidFill>
                  <a:srgbClr val="FFFFFF"/>
                </a:solidFill>
              </a:rPr>
              <a:t>HEXAGONAL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1234440" y="2788920"/>
            <a:ext cx="41605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CEBFA"/>
                </a:solidFill>
              </a:rPr>
              <a:t>✓ Domain no sabe qué BD hay detrás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DCEBFA"/>
                </a:solidFill>
              </a:rPr>
              <a:t>✓ Testing simple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DCEBFA"/>
                </a:solidFill>
              </a:rPr>
              <a:t>✓ Escalabilidad sin refactor masivo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DCEBFA"/>
                </a:solidFill>
              </a:rPr>
              <a:t>✓ Equipo organizado por responsabilidades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309360" y="1143000"/>
            <a:ext cx="525780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10" name="Text 8"/>
          <p:cNvSpPr/>
          <p:nvPr/>
        </p:nvSpPr>
        <p:spPr>
          <a:xfrm>
            <a:off x="6766560" y="1554480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5CAB"/>
                </a:solidFill>
              </a:rPr>
              <a:t>PRÁCTICAS DEMOSTRADAS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903720" y="2240280"/>
            <a:ext cx="1874520" cy="502920"/>
          </a:xfrm>
          <a:prstGeom prst="roundRect">
            <a:avLst/>
          </a:prstGeom>
          <a:solidFill>
            <a:srgbClr val="EAF5FF"/>
          </a:solidFill>
          <a:ln w="12700">
            <a:solidFill>
              <a:srgbClr val="0B5CAB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2" name="Text 10"/>
          <p:cNvSpPr/>
          <p:nvPr/>
        </p:nvSpPr>
        <p:spPr>
          <a:xfrm>
            <a:off x="6995160" y="2404872"/>
            <a:ext cx="1691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52238"/>
                </a:solidFill>
              </a:rPr>
              <a:t>DDD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9052560" y="2240280"/>
            <a:ext cx="1874520" cy="502920"/>
          </a:xfrm>
          <a:prstGeom prst="roundRect">
            <a:avLst/>
          </a:prstGeom>
          <a:solidFill>
            <a:srgbClr val="EAF5FF"/>
          </a:solidFill>
          <a:ln w="12700">
            <a:solidFill>
              <a:srgbClr val="0B5CAB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4" name="Text 12"/>
          <p:cNvSpPr/>
          <p:nvPr/>
        </p:nvSpPr>
        <p:spPr>
          <a:xfrm>
            <a:off x="9144000" y="2404872"/>
            <a:ext cx="1691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52238"/>
                </a:solidFill>
              </a:rPr>
              <a:t>SOLID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903720" y="3017520"/>
            <a:ext cx="1874520" cy="502920"/>
          </a:xfrm>
          <a:prstGeom prst="roundRect">
            <a:avLst/>
          </a:prstGeom>
          <a:solidFill>
            <a:srgbClr val="EAF5FF"/>
          </a:solidFill>
          <a:ln w="12700">
            <a:solidFill>
              <a:srgbClr val="0B5CAB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6" name="Text 14"/>
          <p:cNvSpPr/>
          <p:nvPr/>
        </p:nvSpPr>
        <p:spPr>
          <a:xfrm>
            <a:off x="6995160" y="3182112"/>
            <a:ext cx="1691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52238"/>
                </a:solidFill>
              </a:rPr>
              <a:t>Clean Architecture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9052560" y="3017520"/>
            <a:ext cx="1874520" cy="502920"/>
          </a:xfrm>
          <a:prstGeom prst="roundRect">
            <a:avLst/>
          </a:prstGeom>
          <a:solidFill>
            <a:srgbClr val="EAF5FF"/>
          </a:solidFill>
          <a:ln w="12700">
            <a:solidFill>
              <a:srgbClr val="0B5CAB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8" name="Text 16"/>
          <p:cNvSpPr/>
          <p:nvPr/>
        </p:nvSpPr>
        <p:spPr>
          <a:xfrm>
            <a:off x="9144000" y="3182112"/>
            <a:ext cx="1691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52238"/>
                </a:solidFill>
              </a:rPr>
              <a:t>H2 + MongoDB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903720" y="3794760"/>
            <a:ext cx="1874520" cy="502920"/>
          </a:xfrm>
          <a:prstGeom prst="roundRect">
            <a:avLst/>
          </a:prstGeom>
          <a:solidFill>
            <a:srgbClr val="E8FAF5"/>
          </a:solidFill>
          <a:ln w="12700">
            <a:solidFill>
              <a:srgbClr val="20C99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0" name="Text 18"/>
          <p:cNvSpPr/>
          <p:nvPr/>
        </p:nvSpPr>
        <p:spPr>
          <a:xfrm>
            <a:off x="6995160" y="3959352"/>
            <a:ext cx="1691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52238"/>
                </a:solidFill>
              </a:rPr>
              <a:t>Testing por capas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148840" y="5806440"/>
            <a:ext cx="7909560" cy="530352"/>
          </a:xfrm>
          <a:prstGeom prst="roundRect">
            <a:avLst/>
          </a:prstGeom>
          <a:solidFill>
            <a:srgbClr val="20C997"/>
          </a:solidFill>
          <a:ln w="12700">
            <a:solidFill>
              <a:srgbClr val="20C99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2" name="Text 20"/>
          <p:cNvSpPr/>
          <p:nvPr/>
        </p:nvSpPr>
        <p:spPr>
          <a:xfrm>
            <a:off x="2377440" y="5980176"/>
            <a:ext cx="7452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SISTEMA MANTENIBLE · ESCALABLE · TESTEABLE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02920" y="6528816"/>
            <a:ext cx="5486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D8A9A"/>
                </a:solidFill>
              </a:rPr>
              <a:t>Motor de Scoring Crediticio  |  Arquitectura Hexagonal</a:t>
            </a:r>
            <a:endParaRPr lang="en-US" sz="7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612C119-CA3D-30D7-5165-92371BCA697D}"/>
              </a:ext>
            </a:extLst>
          </p:cNvPr>
          <p:cNvSpPr/>
          <p:nvPr/>
        </p:nvSpPr>
        <p:spPr>
          <a:xfrm>
            <a:off x="0" y="0"/>
            <a:ext cx="12191999" cy="73152"/>
          </a:xfrm>
          <a:prstGeom prst="rect">
            <a:avLst/>
          </a:prstGeom>
          <a:solidFill>
            <a:srgbClr val="00A6D6"/>
          </a:solidFill>
          <a:ln>
            <a:solidFill>
              <a:srgbClr val="00A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CDAE5ADB-B912-AA8F-0084-7518CA09A3BD}"/>
              </a:ext>
            </a:extLst>
          </p:cNvPr>
          <p:cNvSpPr txBox="1"/>
          <p:nvPr/>
        </p:nvSpPr>
        <p:spPr>
          <a:xfrm>
            <a:off x="581487" y="716340"/>
            <a:ext cx="9175071" cy="238526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es-PE" sz="2600" b="1" dirty="0">
                <a:latin typeface="+mj-lt"/>
              </a:rPr>
              <a:t>Cambios principales:</a:t>
            </a:r>
          </a:p>
          <a:p>
            <a:endParaRPr lang="es-PE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500" b="1" dirty="0" err="1"/>
              <a:t>domain</a:t>
            </a:r>
            <a:r>
              <a:rPr lang="es-ES" sz="1500" b="1" dirty="0"/>
              <a:t> y </a:t>
            </a:r>
            <a:r>
              <a:rPr lang="es-ES" sz="1500" b="1" dirty="0" err="1"/>
              <a:t>application</a:t>
            </a:r>
            <a:r>
              <a:rPr lang="es-ES" sz="1500" b="1" dirty="0"/>
              <a:t> </a:t>
            </a:r>
            <a:r>
              <a:rPr lang="es-ES" sz="1500" dirty="0"/>
              <a:t>permanecen intactos.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500" dirty="0"/>
              <a:t>Los </a:t>
            </a:r>
            <a:r>
              <a:rPr lang="es-ES" sz="1500" dirty="0" err="1"/>
              <a:t>UseCase</a:t>
            </a:r>
            <a:r>
              <a:rPr lang="es-ES" sz="1500" dirty="0"/>
              <a:t> son </a:t>
            </a:r>
            <a:r>
              <a:rPr lang="es-ES" sz="1500" b="1" dirty="0"/>
              <a:t>puertos de entrada </a:t>
            </a:r>
            <a:r>
              <a:rPr lang="es-ES" sz="1500" dirty="0"/>
              <a:t>y están en motor-</a:t>
            </a:r>
            <a:r>
              <a:rPr lang="es-ES" sz="1500" dirty="0" err="1"/>
              <a:t>scoring</a:t>
            </a:r>
            <a:r>
              <a:rPr lang="es-ES" sz="1500" dirty="0"/>
              <a:t>-</a:t>
            </a:r>
            <a:r>
              <a:rPr lang="es-ES" sz="1500" dirty="0" err="1"/>
              <a:t>application</a:t>
            </a:r>
            <a:r>
              <a:rPr lang="es-ES" sz="1500" dirty="0"/>
              <a:t>, paquete </a:t>
            </a:r>
            <a:r>
              <a:rPr lang="es-ES" sz="1500" dirty="0" err="1"/>
              <a:t>application.usecase</a:t>
            </a:r>
            <a:r>
              <a:rPr lang="es-ES" sz="15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500" dirty="0"/>
              <a:t>Los </a:t>
            </a:r>
            <a:r>
              <a:rPr lang="es-ES" sz="1500" dirty="0" err="1"/>
              <a:t>Repository</a:t>
            </a:r>
            <a:r>
              <a:rPr lang="es-ES" sz="1500" dirty="0"/>
              <a:t> son </a:t>
            </a:r>
            <a:r>
              <a:rPr lang="es-ES" sz="1500" b="1" dirty="0"/>
              <a:t>puertos de salida </a:t>
            </a:r>
            <a:r>
              <a:rPr lang="es-ES" sz="1500" dirty="0"/>
              <a:t>y están en motor-</a:t>
            </a:r>
            <a:r>
              <a:rPr lang="es-ES" sz="1500" dirty="0" err="1"/>
              <a:t>scoring</a:t>
            </a:r>
            <a:r>
              <a:rPr lang="es-ES" sz="1500" dirty="0"/>
              <a:t>-</a:t>
            </a:r>
            <a:r>
              <a:rPr lang="es-ES" sz="1500" dirty="0" err="1"/>
              <a:t>domain</a:t>
            </a:r>
            <a:r>
              <a:rPr lang="es-ES" sz="1500" dirty="0"/>
              <a:t>, paquete </a:t>
            </a:r>
            <a:r>
              <a:rPr lang="es-ES" sz="1500" dirty="0" err="1"/>
              <a:t>domain.repository</a:t>
            </a:r>
            <a:r>
              <a:rPr lang="es-ES" sz="15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500" dirty="0" err="1"/>
              <a:t>presentation</a:t>
            </a:r>
            <a:r>
              <a:rPr lang="es-ES" sz="1500" dirty="0"/>
              <a:t> es el </a:t>
            </a:r>
            <a:r>
              <a:rPr lang="es-ES" sz="1500" b="1" dirty="0"/>
              <a:t>adaptador de entrada </a:t>
            </a:r>
            <a:r>
              <a:rPr lang="es-ES" sz="1500" dirty="0" err="1"/>
              <a:t>REST</a:t>
            </a:r>
            <a:r>
              <a:rPr lang="es-ES" sz="15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500" dirty="0"/>
              <a:t>H2/</a:t>
            </a:r>
            <a:r>
              <a:rPr lang="es-ES" sz="1500" dirty="0" err="1"/>
              <a:t>JPA</a:t>
            </a:r>
            <a:r>
              <a:rPr lang="es-ES" sz="1500" dirty="0"/>
              <a:t> y MongoDB son </a:t>
            </a:r>
            <a:r>
              <a:rPr lang="es-ES" sz="1500" b="1" dirty="0"/>
              <a:t>adaptadores de salida </a:t>
            </a:r>
            <a:r>
              <a:rPr lang="es-ES" sz="1500" dirty="0"/>
              <a:t>intercambiables.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500" dirty="0" err="1"/>
              <a:t>bootstrap</a:t>
            </a:r>
            <a:r>
              <a:rPr lang="es-ES" sz="1500" dirty="0"/>
              <a:t> selecciona el adaptador mediante los perfiles h2 o </a:t>
            </a:r>
            <a:r>
              <a:rPr lang="es-ES" sz="1500" dirty="0" err="1"/>
              <a:t>mongodb</a:t>
            </a:r>
            <a:r>
              <a:rPr lang="es-ES" sz="15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500" dirty="0"/>
              <a:t>Cambiar de H2 a MongoDB no afecta el núcleo, los casos de uso ni los </a:t>
            </a:r>
            <a:r>
              <a:rPr lang="es-ES" sz="1500" dirty="0" err="1"/>
              <a:t>controllers</a:t>
            </a:r>
            <a:r>
              <a:rPr lang="es-ES" sz="1500" dirty="0"/>
              <a:t>.</a:t>
            </a:r>
            <a:endParaRPr lang="es-PE" sz="1500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946472C4-BEF4-B5AA-5167-6AB201F6CDD2}"/>
              </a:ext>
            </a:extLst>
          </p:cNvPr>
          <p:cNvSpPr txBox="1"/>
          <p:nvPr/>
        </p:nvSpPr>
        <p:spPr>
          <a:xfrm>
            <a:off x="601460" y="3656033"/>
            <a:ext cx="6098958" cy="187743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s-ES" sz="2600" b="1" dirty="0">
                <a:latin typeface="+mj-lt"/>
              </a:rPr>
              <a:t>Tipos de test: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1500" dirty="0"/>
              <a:t>   Unitarios de dominio.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1500" dirty="0"/>
              <a:t>   Unitarios de aplicación con </a:t>
            </a:r>
            <a:r>
              <a:rPr lang="es-ES" sz="1500" dirty="0" err="1"/>
              <a:t>Mockito</a:t>
            </a:r>
            <a:r>
              <a:rPr lang="es-ES" sz="1500" dirty="0"/>
              <a:t>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1500" dirty="0"/>
              <a:t>   </a:t>
            </a:r>
            <a:r>
              <a:rPr lang="es-ES" sz="1500" dirty="0" err="1"/>
              <a:t>Tests</a:t>
            </a:r>
            <a:r>
              <a:rPr lang="es-ES" sz="1500" dirty="0"/>
              <a:t> de </a:t>
            </a:r>
            <a:r>
              <a:rPr lang="es-ES" sz="1500" dirty="0" err="1"/>
              <a:t>mappers</a:t>
            </a:r>
            <a:r>
              <a:rPr lang="es-ES" sz="1500" dirty="0"/>
              <a:t>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1500" dirty="0"/>
              <a:t>   </a:t>
            </a:r>
            <a:r>
              <a:rPr lang="es-ES" sz="1500" dirty="0" err="1"/>
              <a:t>Tests</a:t>
            </a:r>
            <a:r>
              <a:rPr lang="es-ES" sz="1500" dirty="0"/>
              <a:t> de integración con H2 y MongoDB.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1500" dirty="0"/>
              <a:t>   </a:t>
            </a:r>
            <a:r>
              <a:rPr lang="es-ES" sz="1500" dirty="0" err="1"/>
              <a:t>Tests</a:t>
            </a:r>
            <a:r>
              <a:rPr lang="es-ES" sz="1500" dirty="0"/>
              <a:t> E2E por HTTP.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1500" dirty="0"/>
              <a:t>   </a:t>
            </a:r>
            <a:r>
              <a:rPr lang="es-ES" sz="1500" dirty="0" err="1"/>
              <a:t>Tests</a:t>
            </a:r>
            <a:r>
              <a:rPr lang="es-ES" sz="1500" dirty="0"/>
              <a:t> de arquitectura con </a:t>
            </a:r>
            <a:r>
              <a:rPr lang="es-ES" sz="1500" dirty="0" err="1"/>
              <a:t>ArchUnit</a:t>
            </a:r>
            <a:r>
              <a:rPr lang="es-ES" sz="15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5912173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 fontScale="92500" lnSpcReduction="20000"/>
          </a:bodyPr>
          <a:lstStyle/>
          <a:p>
            <a:pPr algn="l"/>
            <a:r>
              <a:rPr sz="2800" b="1" dirty="0" err="1">
                <a:solidFill>
                  <a:srgbClr val="0B1F3A"/>
                </a:solidFill>
                <a:latin typeface="Aptos Display"/>
              </a:rPr>
              <a:t>Qué</a:t>
            </a:r>
            <a:r>
              <a:rPr sz="2800" b="1" dirty="0">
                <a:solidFill>
                  <a:srgbClr val="0B1F3A"/>
                </a:solidFill>
                <a:latin typeface="Aptos Display"/>
              </a:rPr>
              <a:t> </a:t>
            </a:r>
            <a:r>
              <a:rPr sz="2800" b="1" dirty="0" err="1">
                <a:solidFill>
                  <a:srgbClr val="0B1F3A"/>
                </a:solidFill>
                <a:latin typeface="Aptos Display"/>
              </a:rPr>
              <a:t>quedó</a:t>
            </a:r>
            <a:r>
              <a:rPr sz="2800" b="1" dirty="0">
                <a:solidFill>
                  <a:srgbClr val="0B1F3A"/>
                </a:solidFill>
                <a:latin typeface="Aptos Display"/>
              </a:rPr>
              <a:t> </a:t>
            </a:r>
            <a:r>
              <a:rPr sz="2800" b="1" dirty="0" err="1">
                <a:solidFill>
                  <a:srgbClr val="0B1F3A"/>
                </a:solidFill>
                <a:latin typeface="Aptos Display"/>
              </a:rPr>
              <a:t>intacto</a:t>
            </a:r>
            <a:r>
              <a:rPr lang="es-ES" sz="2800" b="1" dirty="0">
                <a:solidFill>
                  <a:srgbClr val="0B1F3A"/>
                </a:solidFill>
                <a:latin typeface="Aptos Display"/>
              </a:rPr>
              <a:t> </a:t>
            </a:r>
            <a:endParaRPr sz="2800" b="1" dirty="0">
              <a:solidFill>
                <a:srgbClr val="0B1F3A"/>
              </a:solidFill>
              <a:latin typeface="Aptos Display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972800" cy="2743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/>
          </a:bodyPr>
          <a:lstStyle/>
          <a:p>
            <a:pPr algn="l"/>
            <a:r>
              <a:rPr sz="1300" b="0">
                <a:solidFill>
                  <a:srgbClr val="697586"/>
                </a:solidFill>
                <a:latin typeface="Aptos"/>
              </a:rPr>
              <a:t>El núcleo se conserva para demostrar independencia de infraestructura.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73152"/>
          </a:xfrm>
          <a:prstGeom prst="rect">
            <a:avLst/>
          </a:prstGeom>
          <a:solidFill>
            <a:srgbClr val="00A6D6"/>
          </a:solidFill>
          <a:ln>
            <a:solidFill>
              <a:srgbClr val="00A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656832"/>
            <a:ext cx="12191999" cy="201168"/>
          </a:xfrm>
          <a:prstGeom prst="rect">
            <a:avLst/>
          </a:prstGeom>
          <a:solidFill>
            <a:srgbClr val="F7F9FC"/>
          </a:solidFill>
          <a:ln>
            <a:solidFill>
              <a:srgbClr val="F7F9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80" y="6684264"/>
            <a:ext cx="5486400" cy="146304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 fontScale="92500" lnSpcReduction="20000"/>
          </a:bodyPr>
          <a:lstStyle/>
          <a:p>
            <a:pPr algn="l"/>
            <a:r>
              <a:rPr sz="750" b="0">
                <a:solidFill>
                  <a:srgbClr val="697586"/>
                </a:solidFill>
                <a:latin typeface="Aptos"/>
              </a:rPr>
              <a:t>Motor Scoring Crediticio · Arquitectura Hexagonal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684264"/>
            <a:ext cx="1645920" cy="146304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 fontScale="92500" lnSpcReduction="20000"/>
          </a:bodyPr>
          <a:lstStyle/>
          <a:p>
            <a:pPr algn="r"/>
            <a:r>
              <a:rPr sz="750" b="0">
                <a:solidFill>
                  <a:srgbClr val="697586"/>
                </a:solidFill>
                <a:latin typeface="Aptos"/>
              </a:rPr>
              <a:t>Sustentación técnica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234440"/>
            <a:ext cx="5303520" cy="411480"/>
          </a:xfrm>
          <a:prstGeom prst="roundRect">
            <a:avLst/>
          </a:prstGeom>
          <a:solidFill>
            <a:srgbClr val="E8F7EF"/>
          </a:solidFill>
          <a:ln w="15240">
            <a:solidFill>
              <a:srgbClr val="1B8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rmAutofit/>
          </a:bodyPr>
          <a:lstStyle/>
          <a:p>
            <a:pPr algn="ctr"/>
            <a:r>
              <a:rPr sz="1400" b="1" dirty="0">
                <a:solidFill>
                  <a:srgbClr val="0B1F3A"/>
                </a:solidFill>
                <a:latin typeface="Aptos"/>
              </a:rPr>
              <a:t>motor-scoring-domain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4059" y="3134264"/>
            <a:ext cx="5303520" cy="411480"/>
          </a:xfrm>
          <a:prstGeom prst="roundRect">
            <a:avLst/>
          </a:prstGeom>
          <a:solidFill>
            <a:srgbClr val="E8F2FF"/>
          </a:solidFill>
          <a:ln w="15240">
            <a:solidFill>
              <a:srgbClr val="1F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rmAutofit/>
          </a:bodyPr>
          <a:lstStyle/>
          <a:p>
            <a:pPr algn="ctr"/>
            <a:r>
              <a:rPr sz="1400" b="1" dirty="0">
                <a:solidFill>
                  <a:srgbClr val="0B1F3A"/>
                </a:solidFill>
                <a:latin typeface="Aptos"/>
              </a:rPr>
              <a:t>motor-scoring-application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920240"/>
            <a:ext cx="5318760" cy="3108960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>
              <a:buChar char="•"/>
              <a:defRPr sz="1250">
                <a:solidFill>
                  <a:srgbClr val="111827"/>
                </a:solidFill>
                <a:latin typeface="Aptos"/>
              </a:defRPr>
            </a:pPr>
            <a:r>
              <a:rPr dirty="0"/>
              <a:t>entity: </a:t>
            </a:r>
            <a:r>
              <a:rPr dirty="0" err="1"/>
              <a:t>SolicitudCredito</a:t>
            </a:r>
            <a:r>
              <a:rPr dirty="0"/>
              <a:t>, </a:t>
            </a:r>
            <a:r>
              <a:rPr dirty="0" err="1"/>
              <a:t>Solicitante</a:t>
            </a:r>
            <a:r>
              <a:rPr dirty="0"/>
              <a:t>, </a:t>
            </a:r>
            <a:r>
              <a:rPr dirty="0" err="1"/>
              <a:t>ModeloScoring</a:t>
            </a:r>
            <a:r>
              <a:rPr dirty="0"/>
              <a:t>, </a:t>
            </a:r>
            <a:r>
              <a:rPr dirty="0" err="1"/>
              <a:t>EvaluacionCrediticia</a:t>
            </a:r>
            <a:endParaRPr dirty="0"/>
          </a:p>
          <a:p>
            <a:pPr algn="l">
              <a:buChar char="•"/>
              <a:defRPr sz="1250">
                <a:solidFill>
                  <a:srgbClr val="111827"/>
                </a:solidFill>
                <a:latin typeface="Aptos"/>
              </a:defRPr>
            </a:pPr>
            <a:r>
              <a:rPr dirty="0" err="1"/>
              <a:t>valueobject</a:t>
            </a:r>
            <a:r>
              <a:rPr dirty="0"/>
              <a:t>: Dinero, </a:t>
            </a:r>
            <a:r>
              <a:rPr dirty="0" err="1"/>
              <a:t>NumeroDocumento</a:t>
            </a:r>
            <a:r>
              <a:rPr dirty="0"/>
              <a:t>, </a:t>
            </a:r>
            <a:r>
              <a:rPr dirty="0" err="1"/>
              <a:t>PuntajeCrediticio</a:t>
            </a:r>
            <a:r>
              <a:rPr dirty="0"/>
              <a:t>, </a:t>
            </a:r>
            <a:r>
              <a:rPr dirty="0" err="1"/>
              <a:t>Porcentaje</a:t>
            </a:r>
            <a:endParaRPr dirty="0"/>
          </a:p>
          <a:p>
            <a:pPr algn="l">
              <a:buChar char="•"/>
              <a:defRPr sz="1250">
                <a:solidFill>
                  <a:srgbClr val="111827"/>
                </a:solidFill>
                <a:latin typeface="Aptos"/>
              </a:defRPr>
            </a:pPr>
            <a:r>
              <a:rPr dirty="0"/>
              <a:t>service: </a:t>
            </a:r>
            <a:r>
              <a:rPr dirty="0" err="1"/>
              <a:t>CalculadorScoring</a:t>
            </a:r>
            <a:r>
              <a:rPr dirty="0"/>
              <a:t> y </a:t>
            </a:r>
            <a:r>
              <a:rPr dirty="0" err="1"/>
              <a:t>calculadores</a:t>
            </a:r>
            <a:r>
              <a:rPr dirty="0"/>
              <a:t> </a:t>
            </a:r>
            <a:r>
              <a:rPr dirty="0" err="1"/>
              <a:t>financieros</a:t>
            </a:r>
            <a:endParaRPr dirty="0"/>
          </a:p>
          <a:p>
            <a:pPr algn="l">
              <a:buChar char="•"/>
              <a:defRPr sz="1250">
                <a:solidFill>
                  <a:srgbClr val="111827"/>
                </a:solidFill>
                <a:latin typeface="Aptos"/>
              </a:defRPr>
            </a:pPr>
            <a:r>
              <a:rPr dirty="0"/>
              <a:t>repository: </a:t>
            </a:r>
            <a:r>
              <a:rPr dirty="0" err="1"/>
              <a:t>puertos</a:t>
            </a:r>
            <a:r>
              <a:rPr dirty="0"/>
              <a:t> de </a:t>
            </a:r>
            <a:r>
              <a:rPr dirty="0" err="1"/>
              <a:t>salida</a:t>
            </a:r>
            <a:endParaRPr dirty="0"/>
          </a:p>
          <a:p>
            <a:pPr algn="l">
              <a:buChar char="•"/>
              <a:defRPr sz="1250">
                <a:solidFill>
                  <a:srgbClr val="111827"/>
                </a:solidFill>
                <a:latin typeface="Aptos"/>
              </a:defRPr>
            </a:pPr>
            <a:r>
              <a:rPr dirty="0" err="1"/>
              <a:t>enums</a:t>
            </a:r>
            <a:r>
              <a:rPr dirty="0"/>
              <a:t> / exception: </a:t>
            </a:r>
            <a:r>
              <a:rPr dirty="0" err="1"/>
              <a:t>estados</a:t>
            </a:r>
            <a:r>
              <a:rPr dirty="0"/>
              <a:t> y </a:t>
            </a:r>
            <a:r>
              <a:rPr dirty="0" err="1"/>
              <a:t>errores</a:t>
            </a:r>
            <a:r>
              <a:rPr dirty="0"/>
              <a:t> de </a:t>
            </a:r>
            <a:r>
              <a:rPr dirty="0" err="1"/>
              <a:t>negocio</a:t>
            </a:r>
            <a:endParaRPr dirty="0"/>
          </a:p>
        </p:txBody>
      </p:sp>
      <p:sp>
        <p:nvSpPr>
          <p:cNvPr id="11" name="TextBox 10"/>
          <p:cNvSpPr txBox="1"/>
          <p:nvPr/>
        </p:nvSpPr>
        <p:spPr>
          <a:xfrm>
            <a:off x="735499" y="3820064"/>
            <a:ext cx="5741296" cy="3108960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>
              <a:buChar char="•"/>
              <a:defRPr sz="1250">
                <a:solidFill>
                  <a:srgbClr val="111827"/>
                </a:solidFill>
                <a:latin typeface="Aptos"/>
              </a:defRPr>
            </a:pPr>
            <a:r>
              <a:rPr dirty="0" err="1"/>
              <a:t>usecase</a:t>
            </a:r>
            <a:r>
              <a:rPr dirty="0"/>
              <a:t>: </a:t>
            </a:r>
            <a:r>
              <a:rPr dirty="0" err="1"/>
              <a:t>CrearSolicitudCreditoUseCase</a:t>
            </a:r>
            <a:r>
              <a:rPr dirty="0"/>
              <a:t>, </a:t>
            </a:r>
            <a:r>
              <a:rPr dirty="0" err="1"/>
              <a:t>EjecutarEvaluacionScoringUseCase</a:t>
            </a:r>
            <a:endParaRPr dirty="0"/>
          </a:p>
          <a:p>
            <a:pPr algn="l">
              <a:buChar char="•"/>
              <a:defRPr sz="1250">
                <a:solidFill>
                  <a:srgbClr val="111827"/>
                </a:solidFill>
                <a:latin typeface="Aptos"/>
              </a:defRPr>
            </a:pPr>
            <a:r>
              <a:rPr dirty="0"/>
              <a:t>service: </a:t>
            </a:r>
            <a:r>
              <a:rPr dirty="0" err="1"/>
              <a:t>CrearSolicitudCreditoService</a:t>
            </a:r>
            <a:r>
              <a:rPr dirty="0"/>
              <a:t>, </a:t>
            </a:r>
            <a:r>
              <a:rPr dirty="0" err="1"/>
              <a:t>EjecutarEvaluacionScoringService</a:t>
            </a:r>
            <a:endParaRPr dirty="0"/>
          </a:p>
          <a:p>
            <a:pPr algn="l">
              <a:buChar char="•"/>
              <a:defRPr sz="1250">
                <a:solidFill>
                  <a:srgbClr val="111827"/>
                </a:solidFill>
                <a:latin typeface="Aptos"/>
              </a:defRPr>
            </a:pPr>
            <a:r>
              <a:rPr dirty="0"/>
              <a:t>command: entradas </a:t>
            </a:r>
            <a:r>
              <a:rPr dirty="0" err="1"/>
              <a:t>internas</a:t>
            </a:r>
            <a:r>
              <a:rPr dirty="0"/>
              <a:t> de </a:t>
            </a:r>
            <a:r>
              <a:rPr dirty="0" err="1"/>
              <a:t>los</a:t>
            </a:r>
            <a:r>
              <a:rPr dirty="0"/>
              <a:t> </a:t>
            </a:r>
            <a:r>
              <a:rPr dirty="0" err="1"/>
              <a:t>casos</a:t>
            </a:r>
            <a:r>
              <a:rPr dirty="0"/>
              <a:t> de </a:t>
            </a:r>
            <a:r>
              <a:rPr dirty="0" err="1"/>
              <a:t>uso</a:t>
            </a:r>
            <a:endParaRPr dirty="0"/>
          </a:p>
          <a:p>
            <a:pPr algn="l">
              <a:buChar char="•"/>
              <a:defRPr sz="1250">
                <a:solidFill>
                  <a:srgbClr val="111827"/>
                </a:solidFill>
                <a:latin typeface="Aptos"/>
              </a:defRPr>
            </a:pPr>
            <a:r>
              <a:rPr dirty="0" err="1"/>
              <a:t>dto</a:t>
            </a:r>
            <a:r>
              <a:rPr dirty="0"/>
              <a:t>: </a:t>
            </a:r>
            <a:r>
              <a:rPr dirty="0" err="1"/>
              <a:t>salidas</a:t>
            </a:r>
            <a:r>
              <a:rPr dirty="0"/>
              <a:t> </a:t>
            </a:r>
            <a:r>
              <a:rPr dirty="0" err="1"/>
              <a:t>internas</a:t>
            </a:r>
            <a:r>
              <a:rPr dirty="0"/>
              <a:t> </a:t>
            </a:r>
            <a:r>
              <a:rPr dirty="0" err="1"/>
              <a:t>hacia</a:t>
            </a:r>
            <a:r>
              <a:rPr dirty="0"/>
              <a:t> presentation</a:t>
            </a:r>
          </a:p>
          <a:p>
            <a:pPr algn="l">
              <a:buChar char="•"/>
              <a:defRPr sz="1250">
                <a:solidFill>
                  <a:srgbClr val="111827"/>
                </a:solidFill>
                <a:latin typeface="Aptos"/>
              </a:defRPr>
            </a:pPr>
            <a:r>
              <a:rPr dirty="0"/>
              <a:t>exception: </a:t>
            </a:r>
            <a:r>
              <a:rPr dirty="0" err="1"/>
              <a:t>errores</a:t>
            </a:r>
            <a:r>
              <a:rPr dirty="0"/>
              <a:t> del </a:t>
            </a:r>
            <a:r>
              <a:rPr dirty="0" err="1"/>
              <a:t>flujo</a:t>
            </a:r>
            <a:r>
              <a:rPr dirty="0"/>
              <a:t> de </a:t>
            </a:r>
            <a:r>
              <a:rPr dirty="0" err="1"/>
              <a:t>aplicación</a:t>
            </a:r>
            <a:endParaRPr dirty="0"/>
          </a:p>
        </p:txBody>
      </p:sp>
      <p:sp>
        <p:nvSpPr>
          <p:cNvPr id="12" name="Rounded Rectangle 11"/>
          <p:cNvSpPr/>
          <p:nvPr/>
        </p:nvSpPr>
        <p:spPr>
          <a:xfrm>
            <a:off x="530352" y="5258864"/>
            <a:ext cx="6050576" cy="475488"/>
          </a:xfrm>
          <a:prstGeom prst="roundRect">
            <a:avLst/>
          </a:prstGeom>
          <a:solidFill>
            <a:srgbClr val="E8F7EF"/>
          </a:solidFill>
          <a:ln w="15240">
            <a:solidFill>
              <a:srgbClr val="1B8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rmAutofit lnSpcReduction="10000"/>
          </a:bodyPr>
          <a:lstStyle/>
          <a:p>
            <a:pPr algn="ctr"/>
            <a:r>
              <a:rPr sz="1300" b="1">
                <a:solidFill>
                  <a:srgbClr val="0B1F3A"/>
                </a:solidFill>
                <a:latin typeface="Aptos"/>
              </a:rPr>
              <a:t>Sin anotaciones de infraestructura: sin @Entity, sin @Document, sin MongoRepository, sin JpaRepository</a:t>
            </a:r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2D312DCB-2DD7-BE25-7E82-77DA43A135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6461" y="159557"/>
            <a:ext cx="4544059" cy="6630325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 fontScale="92500" lnSpcReduction="20000"/>
          </a:bodyPr>
          <a:lstStyle/>
          <a:p>
            <a:pPr algn="l"/>
            <a:r>
              <a:rPr sz="2800" b="1">
                <a:solidFill>
                  <a:srgbClr val="0B1F3A"/>
                </a:solidFill>
                <a:latin typeface="Aptos Display"/>
              </a:rPr>
              <a:t>Núcleo: paquetes de domain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972800" cy="2743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/>
          </a:bodyPr>
          <a:lstStyle/>
          <a:p>
            <a:pPr algn="l"/>
            <a:r>
              <a:rPr sz="1300" b="0">
                <a:solidFill>
                  <a:srgbClr val="697586"/>
                </a:solidFill>
                <a:latin typeface="Aptos"/>
              </a:rPr>
              <a:t>Aquí vive el lenguaje del negocio y las reglas del scoring.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73152"/>
          </a:xfrm>
          <a:prstGeom prst="rect">
            <a:avLst/>
          </a:prstGeom>
          <a:solidFill>
            <a:srgbClr val="00A6D6"/>
          </a:solidFill>
          <a:ln>
            <a:solidFill>
              <a:srgbClr val="00A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656832"/>
            <a:ext cx="12191999" cy="201168"/>
          </a:xfrm>
          <a:prstGeom prst="rect">
            <a:avLst/>
          </a:prstGeom>
          <a:solidFill>
            <a:srgbClr val="F7F9FC"/>
          </a:solidFill>
          <a:ln>
            <a:solidFill>
              <a:srgbClr val="F7F9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80" y="6684264"/>
            <a:ext cx="5486400" cy="146304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 fontScale="92500" lnSpcReduction="20000"/>
          </a:bodyPr>
          <a:lstStyle/>
          <a:p>
            <a:pPr algn="l"/>
            <a:r>
              <a:rPr sz="750" b="0">
                <a:solidFill>
                  <a:srgbClr val="697586"/>
                </a:solidFill>
                <a:latin typeface="Aptos"/>
              </a:rPr>
              <a:t>Motor Scoring Crediticio · Arquitectura Hexagonal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684264"/>
            <a:ext cx="1645920" cy="146304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 fontScale="92500" lnSpcReduction="20000"/>
          </a:bodyPr>
          <a:lstStyle/>
          <a:p>
            <a:pPr algn="r"/>
            <a:r>
              <a:rPr sz="750" b="0">
                <a:solidFill>
                  <a:srgbClr val="697586"/>
                </a:solidFill>
                <a:latin typeface="Aptos"/>
              </a:rPr>
              <a:t>Sustentación técnica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417320"/>
            <a:ext cx="3154680" cy="411480"/>
          </a:xfrm>
          <a:prstGeom prst="roundRect">
            <a:avLst/>
          </a:prstGeom>
          <a:solidFill>
            <a:srgbClr val="E8F7EF"/>
          </a:solidFill>
          <a:ln w="15240">
            <a:solidFill>
              <a:srgbClr val="1B8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rmAutofit/>
          </a:bodyPr>
          <a:lstStyle/>
          <a:p>
            <a:pPr algn="ctr"/>
            <a:r>
              <a:rPr sz="1400" b="1">
                <a:solidFill>
                  <a:srgbClr val="0B1F3A"/>
                </a:solidFill>
                <a:latin typeface="Aptos"/>
              </a:rPr>
              <a:t>entity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984248"/>
            <a:ext cx="2971800" cy="777240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/>
          </a:bodyPr>
          <a:lstStyle/>
          <a:p>
            <a:pPr algn="ctr"/>
            <a:r>
              <a:rPr sz="1150" b="0">
                <a:solidFill>
                  <a:srgbClr val="111827"/>
                </a:solidFill>
                <a:latin typeface="Aptos"/>
              </a:rPr>
              <a:t>Objetos con identidad y ciclo de vida: SolicitudCredito, ProductoCrediticio, ModeloScoring.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417320"/>
            <a:ext cx="3154680" cy="411480"/>
          </a:xfrm>
          <a:prstGeom prst="roundRect">
            <a:avLst/>
          </a:prstGeom>
          <a:solidFill>
            <a:srgbClr val="E8F7EF"/>
          </a:solidFill>
          <a:ln w="15240">
            <a:solidFill>
              <a:srgbClr val="1B8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rmAutofit/>
          </a:bodyPr>
          <a:lstStyle/>
          <a:p>
            <a:pPr algn="ctr"/>
            <a:r>
              <a:rPr sz="1400" b="1">
                <a:solidFill>
                  <a:srgbClr val="0B1F3A"/>
                </a:solidFill>
                <a:latin typeface="Aptos"/>
              </a:rPr>
              <a:t>valueobject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40" y="1984248"/>
            <a:ext cx="2971800" cy="777240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/>
          </a:bodyPr>
          <a:lstStyle/>
          <a:p>
            <a:pPr algn="ctr"/>
            <a:r>
              <a:rPr sz="1150" b="0">
                <a:solidFill>
                  <a:srgbClr val="111827"/>
                </a:solidFill>
                <a:latin typeface="Aptos"/>
              </a:rPr>
              <a:t>Valores válidos e inmutables: Dinero, NumeroDocumento, PuntajeCrediticio.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01000" y="1417320"/>
            <a:ext cx="3154680" cy="411480"/>
          </a:xfrm>
          <a:prstGeom prst="roundRect">
            <a:avLst/>
          </a:prstGeom>
          <a:solidFill>
            <a:srgbClr val="E8F7EF"/>
          </a:solidFill>
          <a:ln w="15240">
            <a:solidFill>
              <a:srgbClr val="1B8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rmAutofit/>
          </a:bodyPr>
          <a:lstStyle/>
          <a:p>
            <a:pPr algn="ctr"/>
            <a:r>
              <a:rPr sz="1400" b="1">
                <a:solidFill>
                  <a:srgbClr val="0B1F3A"/>
                </a:solidFill>
                <a:latin typeface="Aptos"/>
              </a:rPr>
              <a:t>service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2440" y="1984248"/>
            <a:ext cx="2971800" cy="777240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/>
          </a:bodyPr>
          <a:lstStyle/>
          <a:p>
            <a:pPr algn="ctr"/>
            <a:r>
              <a:rPr sz="1150" b="0">
                <a:solidFill>
                  <a:srgbClr val="111827"/>
                </a:solidFill>
                <a:latin typeface="Aptos"/>
              </a:rPr>
              <a:t>Cálculos y políticas: CalculadorScoring, capacidad, RDI, cuota-ingreso.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291840"/>
            <a:ext cx="3154680" cy="411480"/>
          </a:xfrm>
          <a:prstGeom prst="roundRect">
            <a:avLst/>
          </a:prstGeom>
          <a:solidFill>
            <a:srgbClr val="E8F7EF"/>
          </a:solidFill>
          <a:ln w="15240">
            <a:solidFill>
              <a:srgbClr val="1B8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rmAutofit/>
          </a:bodyPr>
          <a:lstStyle/>
          <a:p>
            <a:pPr algn="ctr"/>
            <a:r>
              <a:rPr sz="1400" b="1">
                <a:solidFill>
                  <a:srgbClr val="0B1F3A"/>
                </a:solidFill>
                <a:latin typeface="Aptos"/>
              </a:rPr>
              <a:t>repository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858768"/>
            <a:ext cx="2971800" cy="777240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/>
          </a:bodyPr>
          <a:lstStyle/>
          <a:p>
            <a:pPr algn="ctr"/>
            <a:r>
              <a:rPr sz="1150" b="1" dirty="0" err="1">
                <a:solidFill>
                  <a:srgbClr val="111827"/>
                </a:solidFill>
                <a:highlight>
                  <a:srgbClr val="FFFF00"/>
                </a:highlight>
                <a:latin typeface="Aptos"/>
              </a:rPr>
              <a:t>Puertos</a:t>
            </a:r>
            <a:r>
              <a:rPr sz="1150" b="1" dirty="0">
                <a:solidFill>
                  <a:srgbClr val="111827"/>
                </a:solidFill>
                <a:highlight>
                  <a:srgbClr val="FFFF00"/>
                </a:highlight>
                <a:latin typeface="Aptos"/>
              </a:rPr>
              <a:t> de </a:t>
            </a:r>
            <a:r>
              <a:rPr sz="1150" b="1" dirty="0" err="1">
                <a:solidFill>
                  <a:srgbClr val="111827"/>
                </a:solidFill>
                <a:highlight>
                  <a:srgbClr val="FFFF00"/>
                </a:highlight>
                <a:latin typeface="Aptos"/>
              </a:rPr>
              <a:t>salida</a:t>
            </a:r>
            <a:r>
              <a:rPr sz="1150" b="1" dirty="0">
                <a:solidFill>
                  <a:srgbClr val="111827"/>
                </a:solidFill>
                <a:highlight>
                  <a:srgbClr val="FFFF00"/>
                </a:highlight>
                <a:latin typeface="Aptos"/>
              </a:rPr>
              <a:t>: </a:t>
            </a:r>
            <a:r>
              <a:rPr sz="1150" b="0" dirty="0" err="1">
                <a:solidFill>
                  <a:srgbClr val="111827"/>
                </a:solidFill>
                <a:latin typeface="Aptos"/>
              </a:rPr>
              <a:t>contratos</a:t>
            </a:r>
            <a:r>
              <a:rPr sz="1150" b="0" dirty="0">
                <a:solidFill>
                  <a:srgbClr val="111827"/>
                </a:solidFill>
                <a:latin typeface="Aptos"/>
              </a:rPr>
              <a:t> que </a:t>
            </a:r>
            <a:r>
              <a:rPr sz="1150" b="0" dirty="0" err="1">
                <a:solidFill>
                  <a:srgbClr val="111827"/>
                </a:solidFill>
                <a:latin typeface="Aptos"/>
              </a:rPr>
              <a:t>serán</a:t>
            </a:r>
            <a:r>
              <a:rPr sz="1150" b="0" dirty="0">
                <a:solidFill>
                  <a:srgbClr val="111827"/>
                </a:solidFill>
                <a:latin typeface="Aptos"/>
              </a:rPr>
              <a:t> </a:t>
            </a:r>
            <a:r>
              <a:rPr sz="1150" b="0" dirty="0" err="1">
                <a:solidFill>
                  <a:srgbClr val="111827"/>
                </a:solidFill>
                <a:latin typeface="Aptos"/>
              </a:rPr>
              <a:t>implementados</a:t>
            </a:r>
            <a:r>
              <a:rPr sz="1150" b="0" dirty="0">
                <a:solidFill>
                  <a:srgbClr val="111827"/>
                </a:solidFill>
                <a:latin typeface="Aptos"/>
              </a:rPr>
              <a:t> </a:t>
            </a:r>
            <a:r>
              <a:rPr sz="1150" b="0" dirty="0" err="1">
                <a:solidFill>
                  <a:srgbClr val="111827"/>
                </a:solidFill>
                <a:latin typeface="Aptos"/>
              </a:rPr>
              <a:t>por</a:t>
            </a:r>
            <a:r>
              <a:rPr sz="1150" b="0" dirty="0">
                <a:solidFill>
                  <a:srgbClr val="111827"/>
                </a:solidFill>
                <a:latin typeface="Aptos"/>
              </a:rPr>
              <a:t> H2 o MongoDB.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43400" y="3291840"/>
            <a:ext cx="3154680" cy="411480"/>
          </a:xfrm>
          <a:prstGeom prst="roundRect">
            <a:avLst/>
          </a:prstGeom>
          <a:solidFill>
            <a:srgbClr val="E8F7EF"/>
          </a:solidFill>
          <a:ln w="15240">
            <a:solidFill>
              <a:srgbClr val="1B8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rmAutofit/>
          </a:bodyPr>
          <a:lstStyle/>
          <a:p>
            <a:pPr algn="ctr"/>
            <a:r>
              <a:rPr sz="1400" b="1">
                <a:solidFill>
                  <a:srgbClr val="0B1F3A"/>
                </a:solidFill>
                <a:latin typeface="Aptos"/>
              </a:rPr>
              <a:t>enums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3858768"/>
            <a:ext cx="2971800" cy="777240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/>
          </a:bodyPr>
          <a:lstStyle/>
          <a:p>
            <a:pPr algn="ctr"/>
            <a:r>
              <a:rPr sz="1150" b="0">
                <a:solidFill>
                  <a:srgbClr val="111827"/>
                </a:solidFill>
                <a:latin typeface="Aptos"/>
              </a:rPr>
              <a:t>Estados cerrados: REGISTRADA, EVALUADA, PREAPROBADA, RECHAZADA.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3291840"/>
            <a:ext cx="3154680" cy="411480"/>
          </a:xfrm>
          <a:prstGeom prst="roundRect">
            <a:avLst/>
          </a:prstGeom>
          <a:solidFill>
            <a:srgbClr val="E8F7EF"/>
          </a:solidFill>
          <a:ln w="15240">
            <a:solidFill>
              <a:srgbClr val="1B8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rmAutofit/>
          </a:bodyPr>
          <a:lstStyle/>
          <a:p>
            <a:pPr algn="ctr"/>
            <a:r>
              <a:rPr sz="1400" b="1">
                <a:solidFill>
                  <a:srgbClr val="0B1F3A"/>
                </a:solidFill>
                <a:latin typeface="Aptos"/>
              </a:rPr>
              <a:t>exception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92440" y="3858768"/>
            <a:ext cx="2971800" cy="777240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/>
          </a:bodyPr>
          <a:lstStyle/>
          <a:p>
            <a:pPr algn="ctr"/>
            <a:r>
              <a:rPr sz="1150" b="0">
                <a:solidFill>
                  <a:srgbClr val="111827"/>
                </a:solidFill>
                <a:latin typeface="Aptos"/>
              </a:rPr>
              <a:t>Errores del dominio: solicitud no evaluable, modelo no activo, puntaje inválido.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828800" y="5715000"/>
            <a:ext cx="8503920" cy="457200"/>
          </a:xfrm>
          <a:prstGeom prst="roundRect">
            <a:avLst/>
          </a:prstGeom>
          <a:solidFill>
            <a:srgbClr val="F7F9FC"/>
          </a:solidFill>
          <a:ln w="15240">
            <a:solidFill>
              <a:srgbClr val="6975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rmAutofit/>
          </a:bodyPr>
          <a:lstStyle/>
          <a:p>
            <a:pPr algn="ctr"/>
            <a:r>
              <a:rPr sz="1300" b="1">
                <a:solidFill>
                  <a:srgbClr val="0B1F3A"/>
                </a:solidFill>
                <a:latin typeface="Aptos"/>
              </a:rPr>
              <a:t>Regla de oro: Domain no depende de Spring, JPA, H2, MongoDB ni BSON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 fontScale="92500" lnSpcReduction="20000"/>
          </a:bodyPr>
          <a:lstStyle/>
          <a:p>
            <a:pPr algn="l"/>
            <a:r>
              <a:rPr sz="2800" b="1">
                <a:solidFill>
                  <a:srgbClr val="0B1F3A"/>
                </a:solidFill>
                <a:latin typeface="Aptos Display"/>
              </a:rPr>
              <a:t>Application: puertos de entrada y casos de uso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972800" cy="2743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/>
          </a:bodyPr>
          <a:lstStyle/>
          <a:p>
            <a:pPr algn="l"/>
            <a:r>
              <a:rPr sz="1300" b="0">
                <a:solidFill>
                  <a:srgbClr val="697586"/>
                </a:solidFill>
                <a:latin typeface="Aptos"/>
              </a:rPr>
              <a:t>Orquesta el flujo; no sabe si se persiste en MongoDB o H2.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73152"/>
          </a:xfrm>
          <a:prstGeom prst="rect">
            <a:avLst/>
          </a:prstGeom>
          <a:solidFill>
            <a:srgbClr val="00A6D6"/>
          </a:solidFill>
          <a:ln>
            <a:solidFill>
              <a:srgbClr val="00A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656832"/>
            <a:ext cx="12191999" cy="201168"/>
          </a:xfrm>
          <a:prstGeom prst="rect">
            <a:avLst/>
          </a:prstGeom>
          <a:solidFill>
            <a:srgbClr val="F7F9FC"/>
          </a:solidFill>
          <a:ln>
            <a:solidFill>
              <a:srgbClr val="F7F9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80" y="6684264"/>
            <a:ext cx="5486400" cy="146304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 fontScale="92500" lnSpcReduction="20000"/>
          </a:bodyPr>
          <a:lstStyle/>
          <a:p>
            <a:pPr algn="l"/>
            <a:r>
              <a:rPr sz="750" b="0">
                <a:solidFill>
                  <a:srgbClr val="697586"/>
                </a:solidFill>
                <a:latin typeface="Aptos"/>
              </a:rPr>
              <a:t>Motor Scoring Crediticio · Arquitectura Hexagonal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684264"/>
            <a:ext cx="1645920" cy="146304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 fontScale="92500" lnSpcReduction="20000"/>
          </a:bodyPr>
          <a:lstStyle/>
          <a:p>
            <a:pPr algn="r"/>
            <a:r>
              <a:rPr sz="750" b="0">
                <a:solidFill>
                  <a:srgbClr val="697586"/>
                </a:solidFill>
                <a:latin typeface="Aptos"/>
              </a:rPr>
              <a:t>Sustentación técnica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417320"/>
            <a:ext cx="2926080" cy="548640"/>
          </a:xfrm>
          <a:prstGeom prst="roundRect">
            <a:avLst/>
          </a:prstGeom>
          <a:solidFill>
            <a:srgbClr val="E8F2FF"/>
          </a:solidFill>
          <a:ln w="15240">
            <a:solidFill>
              <a:srgbClr val="1F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rmAutofit/>
          </a:bodyPr>
          <a:lstStyle/>
          <a:p>
            <a:pPr algn="ctr"/>
            <a:r>
              <a:rPr sz="1300" b="1" dirty="0" err="1">
                <a:solidFill>
                  <a:srgbClr val="0B1F3A"/>
                </a:solidFill>
                <a:latin typeface="Aptos"/>
              </a:rPr>
              <a:t>Puertos</a:t>
            </a:r>
            <a:r>
              <a:rPr sz="1300" b="1" dirty="0">
                <a:solidFill>
                  <a:srgbClr val="0B1F3A"/>
                </a:solidFill>
                <a:latin typeface="Aptos"/>
              </a:rPr>
              <a:t> de entrada</a:t>
            </a:r>
            <a:br>
              <a:rPr dirty="0"/>
            </a:br>
            <a:r>
              <a:rPr sz="1300" b="1" dirty="0">
                <a:solidFill>
                  <a:srgbClr val="0B1F3A"/>
                </a:solidFill>
                <a:latin typeface="Aptos"/>
              </a:rPr>
              <a:t>application/</a:t>
            </a:r>
            <a:r>
              <a:rPr sz="1300" b="1" dirty="0" err="1">
                <a:solidFill>
                  <a:srgbClr val="0B1F3A"/>
                </a:solidFill>
                <a:latin typeface="Aptos"/>
              </a:rPr>
              <a:t>usecase</a:t>
            </a:r>
            <a:endParaRPr sz="1300" b="1" dirty="0">
              <a:solidFill>
                <a:srgbClr val="0B1F3A"/>
              </a:solidFill>
              <a:latin typeface="Aptos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4617720" y="1417320"/>
            <a:ext cx="2926080" cy="548640"/>
          </a:xfrm>
          <a:prstGeom prst="roundRect">
            <a:avLst/>
          </a:prstGeom>
          <a:solidFill>
            <a:srgbClr val="E8F2FF"/>
          </a:solidFill>
          <a:ln w="15240">
            <a:solidFill>
              <a:srgbClr val="1F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rmAutofit/>
          </a:bodyPr>
          <a:lstStyle/>
          <a:p>
            <a:pPr algn="ctr"/>
            <a:r>
              <a:rPr sz="1300" b="1" dirty="0" err="1">
                <a:solidFill>
                  <a:srgbClr val="0B1F3A"/>
                </a:solidFill>
                <a:latin typeface="Aptos"/>
              </a:rPr>
              <a:t>Implementación</a:t>
            </a:r>
            <a:br>
              <a:rPr dirty="0"/>
            </a:br>
            <a:r>
              <a:rPr sz="1300" b="1" dirty="0">
                <a:solidFill>
                  <a:srgbClr val="0B1F3A"/>
                </a:solidFill>
                <a:latin typeface="Aptos"/>
              </a:rPr>
              <a:t>application/service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12480" y="1417320"/>
            <a:ext cx="2926080" cy="548640"/>
          </a:xfrm>
          <a:prstGeom prst="roundRect">
            <a:avLst/>
          </a:prstGeom>
          <a:solidFill>
            <a:srgbClr val="E8F7EF"/>
          </a:solidFill>
          <a:ln w="15240">
            <a:solidFill>
              <a:srgbClr val="1B8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rmAutofit/>
          </a:bodyPr>
          <a:lstStyle/>
          <a:p>
            <a:pPr algn="ctr"/>
            <a:r>
              <a:rPr sz="1300" b="1" dirty="0" err="1">
                <a:solidFill>
                  <a:srgbClr val="0B1F3A"/>
                </a:solidFill>
                <a:latin typeface="Aptos"/>
              </a:rPr>
              <a:t>Puertos</a:t>
            </a:r>
            <a:r>
              <a:rPr sz="1300" b="1" dirty="0">
                <a:solidFill>
                  <a:srgbClr val="0B1F3A"/>
                </a:solidFill>
                <a:latin typeface="Aptos"/>
              </a:rPr>
              <a:t> de </a:t>
            </a:r>
            <a:r>
              <a:rPr sz="1300" b="1" dirty="0" err="1">
                <a:solidFill>
                  <a:srgbClr val="0B1F3A"/>
                </a:solidFill>
                <a:latin typeface="Aptos"/>
              </a:rPr>
              <a:t>salida</a:t>
            </a:r>
            <a:br>
              <a:rPr dirty="0"/>
            </a:br>
            <a:r>
              <a:rPr sz="1300" b="1" dirty="0">
                <a:solidFill>
                  <a:srgbClr val="0B1F3A"/>
                </a:solidFill>
                <a:latin typeface="Aptos"/>
              </a:rPr>
              <a:t>domain/repository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240280"/>
            <a:ext cx="2926080" cy="914400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>
              <a:buChar char="•"/>
              <a:defRPr sz="1300">
                <a:solidFill>
                  <a:srgbClr val="111827"/>
                </a:solidFill>
                <a:latin typeface="Aptos"/>
              </a:defRPr>
            </a:pPr>
            <a:r>
              <a:rPr dirty="0" err="1"/>
              <a:t>CrearSolicitudCreditoUseCase</a:t>
            </a:r>
            <a:endParaRPr dirty="0"/>
          </a:p>
          <a:p>
            <a:pPr algn="l">
              <a:buChar char="•"/>
              <a:defRPr sz="1300">
                <a:solidFill>
                  <a:srgbClr val="111827"/>
                </a:solidFill>
                <a:latin typeface="Aptos"/>
              </a:defRPr>
            </a:pPr>
            <a:r>
              <a:rPr dirty="0" err="1"/>
              <a:t>EjecutarEvaluacionScoringUseCase</a:t>
            </a:r>
            <a:endParaRPr dirty="0"/>
          </a:p>
        </p:txBody>
      </p:sp>
      <p:sp>
        <p:nvSpPr>
          <p:cNvPr id="12" name="TextBox 11"/>
          <p:cNvSpPr txBox="1"/>
          <p:nvPr/>
        </p:nvSpPr>
        <p:spPr>
          <a:xfrm>
            <a:off x="4800600" y="2240280"/>
            <a:ext cx="2834640" cy="1143000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>
              <a:buChar char="•"/>
              <a:defRPr sz="1300">
                <a:solidFill>
                  <a:srgbClr val="111827"/>
                </a:solidFill>
                <a:latin typeface="Aptos"/>
              </a:defRPr>
            </a:pPr>
            <a:r>
              <a:rPr dirty="0" err="1"/>
              <a:t>CrearSolicitudCreditoService</a:t>
            </a:r>
            <a:endParaRPr dirty="0"/>
          </a:p>
          <a:p>
            <a:pPr algn="l">
              <a:buChar char="•"/>
              <a:defRPr sz="1300">
                <a:solidFill>
                  <a:srgbClr val="111827"/>
                </a:solidFill>
                <a:latin typeface="Aptos"/>
              </a:defRPr>
            </a:pPr>
            <a:r>
              <a:rPr dirty="0" err="1"/>
              <a:t>EjecutarEvaluacionScoringService</a:t>
            </a:r>
            <a:endParaRPr dirty="0"/>
          </a:p>
          <a:p>
            <a:pPr algn="l">
              <a:buChar char="•"/>
              <a:defRPr sz="1300">
                <a:solidFill>
                  <a:srgbClr val="111827"/>
                </a:solidFill>
                <a:latin typeface="Aptos"/>
              </a:defRPr>
            </a:pPr>
            <a:r>
              <a:rPr dirty="0" err="1"/>
              <a:t>Construye</a:t>
            </a:r>
            <a:r>
              <a:rPr dirty="0"/>
              <a:t> </a:t>
            </a:r>
            <a:r>
              <a:rPr dirty="0" err="1"/>
              <a:t>DTO</a:t>
            </a:r>
            <a:r>
              <a:rPr dirty="0"/>
              <a:t> de </a:t>
            </a:r>
            <a:r>
              <a:rPr dirty="0" err="1"/>
              <a:t>respuesta</a:t>
            </a:r>
            <a:endParaRPr dirty="0"/>
          </a:p>
        </p:txBody>
      </p:sp>
      <p:sp>
        <p:nvSpPr>
          <p:cNvPr id="13" name="TextBox 12"/>
          <p:cNvSpPr txBox="1"/>
          <p:nvPr/>
        </p:nvSpPr>
        <p:spPr>
          <a:xfrm>
            <a:off x="8595360" y="2240280"/>
            <a:ext cx="2560320" cy="1143000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>
              <a:buChar char="•"/>
              <a:defRPr sz="1300">
                <a:solidFill>
                  <a:srgbClr val="111827"/>
                </a:solidFill>
                <a:latin typeface="Aptos"/>
              </a:defRPr>
            </a:pPr>
            <a:r>
              <a:rPr dirty="0" err="1"/>
              <a:t>SolicitudCreditoRepository</a:t>
            </a:r>
            <a:endParaRPr dirty="0"/>
          </a:p>
          <a:p>
            <a:pPr algn="l">
              <a:buChar char="•"/>
              <a:defRPr sz="1300">
                <a:solidFill>
                  <a:srgbClr val="111827"/>
                </a:solidFill>
                <a:latin typeface="Aptos"/>
              </a:defRPr>
            </a:pPr>
            <a:r>
              <a:rPr dirty="0" err="1"/>
              <a:t>ModeloScoringRepository</a:t>
            </a:r>
            <a:endParaRPr dirty="0"/>
          </a:p>
          <a:p>
            <a:pPr algn="l">
              <a:buChar char="•"/>
              <a:defRPr sz="1300">
                <a:solidFill>
                  <a:srgbClr val="111827"/>
                </a:solidFill>
                <a:latin typeface="Aptos"/>
              </a:defRPr>
            </a:pPr>
            <a:r>
              <a:rPr dirty="0" err="1"/>
              <a:t>EvaluacionCrediticiaRepository</a:t>
            </a:r>
            <a:endParaRPr dirty="0"/>
          </a:p>
        </p:txBody>
      </p:sp>
      <p:cxnSp>
        <p:nvCxnSpPr>
          <p:cNvPr id="14" name="Connector 13"/>
          <p:cNvCxnSpPr/>
          <p:nvPr/>
        </p:nvCxnSpPr>
        <p:spPr>
          <a:xfrm>
            <a:off x="3749039" y="1691640"/>
            <a:ext cx="868681" cy="0"/>
          </a:xfrm>
          <a:prstGeom prst="line">
            <a:avLst/>
          </a:prstGeom>
          <a:ln w="22860">
            <a:solidFill>
              <a:srgbClr val="6975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543800" y="1691640"/>
            <a:ext cx="868680" cy="0"/>
          </a:xfrm>
          <a:prstGeom prst="line">
            <a:avLst/>
          </a:prstGeom>
          <a:ln w="22860">
            <a:solidFill>
              <a:srgbClr val="6975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914400" y="4160520"/>
            <a:ext cx="2926080" cy="594360"/>
          </a:xfrm>
          <a:prstGeom prst="roundRect">
            <a:avLst/>
          </a:prstGeom>
          <a:solidFill>
            <a:srgbClr val="F0EEFF"/>
          </a:solidFill>
          <a:ln w="15240">
            <a:solidFill>
              <a:srgbClr val="6D5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rmAutofit/>
          </a:bodyPr>
          <a:lstStyle/>
          <a:p>
            <a:pPr algn="ctr"/>
            <a:r>
              <a:rPr sz="1300" b="1">
                <a:solidFill>
                  <a:srgbClr val="0B1F3A"/>
                </a:solidFill>
                <a:latin typeface="Aptos"/>
              </a:rPr>
              <a:t>Controller llama al UseCase, no a infraestructura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0" y="4160520"/>
            <a:ext cx="3063240" cy="594360"/>
          </a:xfrm>
          <a:prstGeom prst="roundRect">
            <a:avLst/>
          </a:prstGeom>
          <a:solidFill>
            <a:srgbClr val="E8F2FF"/>
          </a:solidFill>
          <a:ln w="15240">
            <a:solidFill>
              <a:srgbClr val="1F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rmAutofit/>
          </a:bodyPr>
          <a:lstStyle/>
          <a:p>
            <a:pPr algn="ctr"/>
            <a:r>
              <a:rPr sz="1300" b="1">
                <a:solidFill>
                  <a:srgbClr val="0B1F3A"/>
                </a:solidFill>
                <a:latin typeface="Aptos"/>
              </a:rPr>
              <a:t>UseCase orquesta validación + scoring + persistencia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12480" y="4160520"/>
            <a:ext cx="2834640" cy="594360"/>
          </a:xfrm>
          <a:prstGeom prst="roundRect">
            <a:avLst/>
          </a:prstGeom>
          <a:solidFill>
            <a:srgbClr val="E8F7EF"/>
          </a:solidFill>
          <a:ln w="15240">
            <a:solidFill>
              <a:srgbClr val="1B8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rmAutofit/>
          </a:bodyPr>
          <a:lstStyle/>
          <a:p>
            <a:pPr algn="ctr"/>
            <a:r>
              <a:rPr sz="1300" b="1">
                <a:solidFill>
                  <a:srgbClr val="0B1F3A"/>
                </a:solidFill>
                <a:latin typeface="Aptos"/>
              </a:rPr>
              <a:t>Repository es una interfaz, no una tecnología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011680" y="5623560"/>
            <a:ext cx="8046720" cy="457200"/>
          </a:xfrm>
          <a:prstGeom prst="roundRect">
            <a:avLst/>
          </a:prstGeom>
          <a:solidFill>
            <a:srgbClr val="F7F9FC"/>
          </a:solidFill>
          <a:ln w="15240">
            <a:solidFill>
              <a:srgbClr val="6975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rmAutofit/>
          </a:bodyPr>
          <a:lstStyle/>
          <a:p>
            <a:pPr algn="ctr"/>
            <a:r>
              <a:rPr sz="1300" b="1">
                <a:solidFill>
                  <a:srgbClr val="0B1F3A"/>
                </a:solidFill>
                <a:latin typeface="Aptos"/>
              </a:rPr>
              <a:t>Application no importa MongoDB, H2, JPA ni Spring Data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 fontScale="92500" lnSpcReduction="20000"/>
          </a:bodyPr>
          <a:lstStyle/>
          <a:p>
            <a:pPr algn="l"/>
            <a:r>
              <a:rPr sz="2800" b="1">
                <a:solidFill>
                  <a:srgbClr val="0B1F3A"/>
                </a:solidFill>
                <a:latin typeface="Aptos Display"/>
              </a:rPr>
              <a:t>Adaptador de entrada REST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972800" cy="2743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/>
          </a:bodyPr>
          <a:lstStyle/>
          <a:p>
            <a:pPr algn="l"/>
            <a:r>
              <a:rPr sz="1300" b="0">
                <a:solidFill>
                  <a:srgbClr val="697586"/>
                </a:solidFill>
                <a:latin typeface="Aptos"/>
              </a:rPr>
              <a:t>El controller no accede directo a infraestructura; entra por casos de uso.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73152"/>
          </a:xfrm>
          <a:prstGeom prst="rect">
            <a:avLst/>
          </a:prstGeom>
          <a:solidFill>
            <a:srgbClr val="00A6D6"/>
          </a:solidFill>
          <a:ln>
            <a:solidFill>
              <a:srgbClr val="00A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656832"/>
            <a:ext cx="12191999" cy="201168"/>
          </a:xfrm>
          <a:prstGeom prst="rect">
            <a:avLst/>
          </a:prstGeom>
          <a:solidFill>
            <a:srgbClr val="F7F9FC"/>
          </a:solidFill>
          <a:ln>
            <a:solidFill>
              <a:srgbClr val="F7F9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80" y="6684264"/>
            <a:ext cx="5486400" cy="146304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 fontScale="92500" lnSpcReduction="20000"/>
          </a:bodyPr>
          <a:lstStyle/>
          <a:p>
            <a:pPr algn="l"/>
            <a:r>
              <a:rPr sz="750" b="0">
                <a:solidFill>
                  <a:srgbClr val="697586"/>
                </a:solidFill>
                <a:latin typeface="Aptos"/>
              </a:rPr>
              <a:t>Motor Scoring Crediticio · Arquitectura Hexagonal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684264"/>
            <a:ext cx="1645920" cy="146304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 fontScale="92500" lnSpcReduction="20000"/>
          </a:bodyPr>
          <a:lstStyle/>
          <a:p>
            <a:pPr algn="r"/>
            <a:r>
              <a:rPr sz="750" b="0">
                <a:solidFill>
                  <a:srgbClr val="697586"/>
                </a:solidFill>
                <a:latin typeface="Aptos"/>
              </a:rPr>
              <a:t>Sustentación técnica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743200"/>
            <a:ext cx="1645920" cy="5943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D5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rmAutofit/>
          </a:bodyPr>
          <a:lstStyle/>
          <a:p>
            <a:pPr algn="ctr"/>
            <a:r>
              <a:rPr sz="1300" b="1">
                <a:solidFill>
                  <a:srgbClr val="0B1F3A"/>
                </a:solidFill>
                <a:latin typeface="Aptos"/>
              </a:rPr>
              <a:t>Postman / Cliente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423160" y="3035808"/>
            <a:ext cx="777240" cy="0"/>
          </a:xfrm>
          <a:prstGeom prst="line">
            <a:avLst/>
          </a:prstGeom>
          <a:ln w="21590">
            <a:solidFill>
              <a:srgbClr val="6975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246120" y="2514600"/>
            <a:ext cx="2331720" cy="1005840"/>
          </a:xfrm>
          <a:prstGeom prst="roundRect">
            <a:avLst/>
          </a:prstGeom>
          <a:solidFill>
            <a:srgbClr val="F0EEFF"/>
          </a:solidFill>
          <a:ln w="15240">
            <a:solidFill>
              <a:srgbClr val="6D5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rmAutofit/>
          </a:bodyPr>
          <a:lstStyle/>
          <a:p>
            <a:pPr algn="ctr"/>
            <a:r>
              <a:rPr sz="1200" b="1">
                <a:solidFill>
                  <a:srgbClr val="0B1F3A"/>
                </a:solidFill>
                <a:latin typeface="Aptos"/>
              </a:rPr>
              <a:t>SolicitudCreditoController</a:t>
            </a:r>
            <a:br/>
            <a:r>
              <a:rPr sz="1200" b="1">
                <a:solidFill>
                  <a:srgbClr val="0B1F3A"/>
                </a:solidFill>
                <a:latin typeface="Aptos"/>
              </a:rPr>
              <a:t>presentation/controller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577840" y="3035808"/>
            <a:ext cx="777240" cy="0"/>
          </a:xfrm>
          <a:prstGeom prst="line">
            <a:avLst/>
          </a:prstGeom>
          <a:ln w="21590">
            <a:solidFill>
              <a:srgbClr val="6975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400800" y="2514600"/>
            <a:ext cx="2103120" cy="1005840"/>
          </a:xfrm>
          <a:prstGeom prst="roundRect">
            <a:avLst/>
          </a:prstGeom>
          <a:solidFill>
            <a:srgbClr val="E8F2FF"/>
          </a:solidFill>
          <a:ln w="15240">
            <a:solidFill>
              <a:srgbClr val="1F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rmAutofit/>
          </a:bodyPr>
          <a:lstStyle/>
          <a:p>
            <a:pPr algn="ctr"/>
            <a:r>
              <a:rPr sz="1300" b="1">
                <a:solidFill>
                  <a:srgbClr val="0B1F3A"/>
                </a:solidFill>
                <a:latin typeface="Aptos"/>
              </a:rPr>
              <a:t>UseCase</a:t>
            </a:r>
            <a:br/>
            <a:r>
              <a:rPr sz="1300" b="1">
                <a:solidFill>
                  <a:srgbClr val="0B1F3A"/>
                </a:solidFill>
                <a:latin typeface="Aptos"/>
              </a:rPr>
              <a:t>application/usecase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503920" y="3035808"/>
            <a:ext cx="777240" cy="0"/>
          </a:xfrm>
          <a:prstGeom prst="line">
            <a:avLst/>
          </a:prstGeom>
          <a:ln w="21590">
            <a:solidFill>
              <a:srgbClr val="6975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9326880" y="2514600"/>
            <a:ext cx="2148840" cy="1005840"/>
          </a:xfrm>
          <a:prstGeom prst="roundRect">
            <a:avLst/>
          </a:prstGeom>
          <a:solidFill>
            <a:srgbClr val="E8F2FF"/>
          </a:solidFill>
          <a:ln w="15240">
            <a:solidFill>
              <a:srgbClr val="1F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rmAutofit/>
          </a:bodyPr>
          <a:lstStyle/>
          <a:p>
            <a:pPr algn="ctr"/>
            <a:r>
              <a:rPr sz="1200" b="1">
                <a:solidFill>
                  <a:srgbClr val="0B1F3A"/>
                </a:solidFill>
                <a:latin typeface="Aptos"/>
              </a:rPr>
              <a:t>Application Service</a:t>
            </a:r>
            <a:br/>
            <a:r>
              <a:rPr sz="1200" b="1">
                <a:solidFill>
                  <a:srgbClr val="0B1F3A"/>
                </a:solidFill>
                <a:latin typeface="Aptos"/>
              </a:rPr>
              <a:t>application/service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37560" y="3840480"/>
            <a:ext cx="2148840" cy="7315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/>
          </a:bodyPr>
          <a:lstStyle/>
          <a:p>
            <a:pPr algn="ctr"/>
            <a:r>
              <a:rPr sz="1100" b="0">
                <a:solidFill>
                  <a:srgbClr val="697586"/>
                </a:solidFill>
                <a:latin typeface="Aptos"/>
              </a:rPr>
              <a:t>Request/Response</a:t>
            </a:r>
            <a:br/>
            <a:r>
              <a:rPr sz="1100" b="0">
                <a:solidFill>
                  <a:srgbClr val="697586"/>
                </a:solidFill>
                <a:latin typeface="Aptos"/>
              </a:rPr>
              <a:t>Validación HTTP</a:t>
            </a:r>
            <a:br/>
            <a:r>
              <a:rPr sz="1100" b="0">
                <a:solidFill>
                  <a:srgbClr val="697586"/>
                </a:solidFill>
                <a:latin typeface="Aptos"/>
              </a:rPr>
              <a:t>Swagger</a:t>
            </a:r>
            <a:br/>
            <a:r>
              <a:rPr sz="1100" b="0">
                <a:solidFill>
                  <a:srgbClr val="697586"/>
                </a:solidFill>
                <a:latin typeface="Aptos"/>
              </a:rPr>
              <a:t>ErrorResponse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3840480"/>
            <a:ext cx="2011680" cy="7315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/>
          </a:bodyPr>
          <a:lstStyle/>
          <a:p>
            <a:pPr algn="ctr"/>
            <a:r>
              <a:rPr sz="1100" b="0">
                <a:solidFill>
                  <a:srgbClr val="697586"/>
                </a:solidFill>
                <a:latin typeface="Aptos"/>
              </a:rPr>
              <a:t>Command / DTO</a:t>
            </a:r>
            <a:br/>
            <a:r>
              <a:rPr sz="1100" b="0">
                <a:solidFill>
                  <a:srgbClr val="697586"/>
                </a:solidFill>
                <a:latin typeface="Aptos"/>
              </a:rPr>
              <a:t>Reglas de flujo</a:t>
            </a:r>
            <a:br/>
            <a:r>
              <a:rPr sz="1100" b="0">
                <a:solidFill>
                  <a:srgbClr val="697586"/>
                </a:solidFill>
                <a:latin typeface="Aptos"/>
              </a:rPr>
              <a:t>Orquestación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011680" y="5212080"/>
            <a:ext cx="8138160" cy="502920"/>
          </a:xfrm>
          <a:prstGeom prst="roundRect">
            <a:avLst/>
          </a:prstGeom>
          <a:solidFill>
            <a:srgbClr val="FFF3D8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rmAutofit/>
          </a:bodyPr>
          <a:lstStyle/>
          <a:p>
            <a:pPr algn="ctr"/>
            <a:r>
              <a:rPr sz="1300" b="1">
                <a:solidFill>
                  <a:srgbClr val="0B1F3A"/>
                </a:solidFill>
                <a:latin typeface="Aptos"/>
              </a:rPr>
              <a:t>NO permitido: Controller -&gt; MongoRepository / JpaRepository / Adapter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 fontScale="92500" lnSpcReduction="20000"/>
          </a:bodyPr>
          <a:lstStyle/>
          <a:p>
            <a:pPr algn="l"/>
            <a:r>
              <a:rPr sz="2800" b="1">
                <a:solidFill>
                  <a:srgbClr val="0B1F3A"/>
                </a:solidFill>
                <a:latin typeface="Aptos Display"/>
              </a:rPr>
              <a:t>Adaptadores de salida: H2 y MongoDB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972800" cy="2743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/>
          </a:bodyPr>
          <a:lstStyle/>
          <a:p>
            <a:pPr algn="l"/>
            <a:r>
              <a:rPr sz="1300" b="0">
                <a:solidFill>
                  <a:srgbClr val="697586"/>
                </a:solidFill>
                <a:latin typeface="Aptos"/>
              </a:rPr>
              <a:t>Ambos implementan los mismos puertos; el núcleo no cambia.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73152"/>
          </a:xfrm>
          <a:prstGeom prst="rect">
            <a:avLst/>
          </a:prstGeom>
          <a:solidFill>
            <a:srgbClr val="00A6D6"/>
          </a:solidFill>
          <a:ln>
            <a:solidFill>
              <a:srgbClr val="00A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656832"/>
            <a:ext cx="12191999" cy="201168"/>
          </a:xfrm>
          <a:prstGeom prst="rect">
            <a:avLst/>
          </a:prstGeom>
          <a:solidFill>
            <a:srgbClr val="F7F9FC"/>
          </a:solidFill>
          <a:ln>
            <a:solidFill>
              <a:srgbClr val="F7F9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80" y="6684264"/>
            <a:ext cx="5486400" cy="146304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 fontScale="92500" lnSpcReduction="20000"/>
          </a:bodyPr>
          <a:lstStyle/>
          <a:p>
            <a:pPr algn="l"/>
            <a:r>
              <a:rPr sz="750" b="0">
                <a:solidFill>
                  <a:srgbClr val="697586"/>
                </a:solidFill>
                <a:latin typeface="Aptos"/>
              </a:rPr>
              <a:t>Motor Scoring Crediticio · Arquitectura Hexagonal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684264"/>
            <a:ext cx="1645920" cy="146304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 fontScale="92500" lnSpcReduction="20000"/>
          </a:bodyPr>
          <a:lstStyle/>
          <a:p>
            <a:pPr algn="r"/>
            <a:r>
              <a:rPr sz="750" b="0">
                <a:solidFill>
                  <a:srgbClr val="697586"/>
                </a:solidFill>
                <a:latin typeface="Aptos"/>
              </a:rPr>
              <a:t>Sustentación técnica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143000"/>
            <a:ext cx="3291840" cy="594360"/>
          </a:xfrm>
          <a:prstGeom prst="roundRect">
            <a:avLst/>
          </a:prstGeom>
          <a:solidFill>
            <a:srgbClr val="E8F7EF"/>
          </a:solidFill>
          <a:ln w="15240">
            <a:solidFill>
              <a:srgbClr val="1B8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rmAutofit/>
          </a:bodyPr>
          <a:lstStyle/>
          <a:p>
            <a:pPr algn="ctr"/>
            <a:r>
              <a:rPr sz="1400" b="1">
                <a:solidFill>
                  <a:srgbClr val="0B1F3A"/>
                </a:solidFill>
                <a:latin typeface="Aptos"/>
              </a:rPr>
              <a:t>Puertos del núcleo</a:t>
            </a:r>
            <a:br/>
            <a:r>
              <a:rPr sz="1400" b="1">
                <a:solidFill>
                  <a:srgbClr val="0B1F3A"/>
                </a:solidFill>
                <a:latin typeface="Aptos"/>
              </a:rPr>
              <a:t>domain/repository</a:t>
            </a:r>
          </a:p>
        </p:txBody>
      </p:sp>
      <p:cxnSp>
        <p:nvCxnSpPr>
          <p:cNvPr id="9" name="Connector 8"/>
          <p:cNvCxnSpPr/>
          <p:nvPr/>
        </p:nvCxnSpPr>
        <p:spPr>
          <a:xfrm flipH="1">
            <a:off x="3703320" y="1737360"/>
            <a:ext cx="2377440" cy="1005840"/>
          </a:xfrm>
          <a:prstGeom prst="line">
            <a:avLst/>
          </a:prstGeom>
          <a:ln w="22860">
            <a:solidFill>
              <a:srgbClr val="6975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080760" y="1737360"/>
            <a:ext cx="2377440" cy="1005840"/>
          </a:xfrm>
          <a:prstGeom prst="line">
            <a:avLst/>
          </a:prstGeom>
          <a:ln w="22860">
            <a:solidFill>
              <a:srgbClr val="6975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777240" y="2743200"/>
            <a:ext cx="3657600" cy="749808"/>
          </a:xfrm>
          <a:prstGeom prst="roundRect">
            <a:avLst/>
          </a:prstGeom>
          <a:solidFill>
            <a:srgbClr val="F7F9FC"/>
          </a:solidFill>
          <a:ln w="15240">
            <a:solidFill>
              <a:srgbClr val="6975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rmAutofit/>
          </a:bodyPr>
          <a:lstStyle/>
          <a:p>
            <a:pPr algn="ctr"/>
            <a:r>
              <a:rPr sz="1300" b="1">
                <a:solidFill>
                  <a:srgbClr val="0B1F3A"/>
                </a:solidFill>
                <a:latin typeface="Aptos"/>
              </a:rPr>
              <a:t>H2/JPA</a:t>
            </a:r>
            <a:br/>
            <a:r>
              <a:rPr sz="1300" b="1">
                <a:solidFill>
                  <a:srgbClr val="0B1F3A"/>
                </a:solidFill>
                <a:latin typeface="Aptos"/>
              </a:rPr>
              <a:t>motor-scoring-infrastructure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18120" y="2743200"/>
            <a:ext cx="3657600" cy="749808"/>
          </a:xfrm>
          <a:prstGeom prst="roundRect">
            <a:avLst/>
          </a:prstGeom>
          <a:solidFill>
            <a:srgbClr val="E7FAFF"/>
          </a:solidFill>
          <a:ln w="15240">
            <a:solidFill>
              <a:srgbClr val="00A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rmAutofit/>
          </a:bodyPr>
          <a:lstStyle/>
          <a:p>
            <a:pPr algn="ctr"/>
            <a:r>
              <a:rPr sz="1300" b="1">
                <a:solidFill>
                  <a:srgbClr val="0B1F3A"/>
                </a:solidFill>
                <a:latin typeface="Aptos"/>
              </a:rPr>
              <a:t>MongoDB</a:t>
            </a:r>
            <a:br/>
            <a:r>
              <a:rPr sz="1300" b="1">
                <a:solidFill>
                  <a:srgbClr val="0B1F3A"/>
                </a:solidFill>
                <a:latin typeface="Aptos"/>
              </a:rPr>
              <a:t>motor-scoring-adapter-out-mongodb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703320"/>
            <a:ext cx="3291840" cy="1554480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>
              <a:buChar char="•"/>
              <a:defRPr sz="1200">
                <a:solidFill>
                  <a:srgbClr val="111827"/>
                </a:solidFill>
                <a:latin typeface="Aptos"/>
              </a:defRPr>
            </a:pPr>
            <a:r>
              <a:t>JpaEntity</a:t>
            </a:r>
          </a:p>
          <a:p>
            <a:pPr algn="l">
              <a:buChar char="•"/>
              <a:defRPr sz="1200">
                <a:solidFill>
                  <a:srgbClr val="111827"/>
                </a:solidFill>
                <a:latin typeface="Aptos"/>
              </a:defRPr>
            </a:pPr>
            <a:r>
              <a:t>SpringDataRepository</a:t>
            </a:r>
          </a:p>
          <a:p>
            <a:pPr algn="l">
              <a:buChar char="•"/>
              <a:defRPr sz="1200">
                <a:solidFill>
                  <a:srgbClr val="111827"/>
                </a:solidFill>
                <a:latin typeface="Aptos"/>
              </a:defRPr>
            </a:pPr>
            <a:r>
              <a:t>RepositoryAdapter</a:t>
            </a:r>
          </a:p>
          <a:p>
            <a:pPr algn="l">
              <a:buChar char="•"/>
              <a:defRPr sz="1200">
                <a:solidFill>
                  <a:srgbClr val="111827"/>
                </a:solidFill>
                <a:latin typeface="Aptos"/>
              </a:defRPr>
            </a:pPr>
            <a:r>
              <a:t>Flyway V1/V2/V3</a:t>
            </a:r>
          </a:p>
          <a:p>
            <a:pPr algn="l">
              <a:buChar char="•"/>
              <a:defRPr sz="1200">
                <a:solidFill>
                  <a:srgbClr val="111827"/>
                </a:solidFill>
                <a:latin typeface="Aptos"/>
              </a:defRPr>
            </a:pPr>
            <a:r>
              <a:t>@Profile("h2")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01000" y="3703320"/>
            <a:ext cx="3291840" cy="1554480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>
              <a:buChar char="•"/>
              <a:defRPr sz="1200">
                <a:solidFill>
                  <a:srgbClr val="111827"/>
                </a:solidFill>
                <a:latin typeface="Aptos"/>
              </a:defRPr>
            </a:pPr>
            <a:r>
              <a:t>MongoDocument</a:t>
            </a:r>
          </a:p>
          <a:p>
            <a:pPr algn="l">
              <a:buChar char="•"/>
              <a:defRPr sz="1200">
                <a:solidFill>
                  <a:srgbClr val="111827"/>
                </a:solidFill>
                <a:latin typeface="Aptos"/>
              </a:defRPr>
            </a:pPr>
            <a:r>
              <a:t>MongoRepository / MongoTemplate</a:t>
            </a:r>
          </a:p>
          <a:p>
            <a:pPr algn="l">
              <a:buChar char="•"/>
              <a:defRPr sz="1200">
                <a:solidFill>
                  <a:srgbClr val="111827"/>
                </a:solidFill>
                <a:latin typeface="Aptos"/>
              </a:defRPr>
            </a:pPr>
            <a:r>
              <a:t>MongoRepositoryAdapter</a:t>
            </a:r>
          </a:p>
          <a:p>
            <a:pPr algn="l">
              <a:buChar char="•"/>
              <a:defRPr sz="1200">
                <a:solidFill>
                  <a:srgbClr val="111827"/>
                </a:solidFill>
                <a:latin typeface="Aptos"/>
              </a:defRPr>
            </a:pPr>
            <a:r>
              <a:t>MongoReferenceDataInitializer</a:t>
            </a:r>
          </a:p>
          <a:p>
            <a:pPr algn="l">
              <a:buChar char="•"/>
              <a:defRPr sz="1200">
                <a:solidFill>
                  <a:srgbClr val="111827"/>
                </a:solidFill>
                <a:latin typeface="Aptos"/>
              </a:defRPr>
            </a:pPr>
            <a:r>
              <a:t>@Profile("mongodb")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828800" y="5715000"/>
            <a:ext cx="8595360" cy="438912"/>
          </a:xfrm>
          <a:prstGeom prst="roundRect">
            <a:avLst/>
          </a:prstGeom>
          <a:solidFill>
            <a:srgbClr val="E8F7EF"/>
          </a:solidFill>
          <a:ln w="15240">
            <a:solidFill>
              <a:srgbClr val="1B8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rmAutofit/>
          </a:bodyPr>
          <a:lstStyle/>
          <a:p>
            <a:pPr algn="ctr"/>
            <a:r>
              <a:rPr sz="1300" b="1">
                <a:solidFill>
                  <a:srgbClr val="0B1F3A"/>
                </a:solidFill>
                <a:latin typeface="Aptos"/>
              </a:rPr>
              <a:t>Cambio de infraestructura = cambia el adaptador activo; Domain y Application permanecen iguales.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 fontScale="92500" lnSpcReduction="20000"/>
          </a:bodyPr>
          <a:lstStyle/>
          <a:p>
            <a:pPr algn="l"/>
            <a:r>
              <a:rPr sz="2800" b="1">
                <a:solidFill>
                  <a:srgbClr val="0B1F3A"/>
                </a:solidFill>
                <a:latin typeface="Aptos Display"/>
              </a:rPr>
              <a:t>Cómo ejecutar y cambiar la base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972800" cy="2743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/>
          </a:bodyPr>
          <a:lstStyle/>
          <a:p>
            <a:pPr algn="l"/>
            <a:r>
              <a:rPr sz="1300" b="0">
                <a:solidFill>
                  <a:srgbClr val="697586"/>
                </a:solidFill>
                <a:latin typeface="Aptos"/>
              </a:rPr>
              <a:t>MongoDB es default; H2 se activa por profile.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73152"/>
          </a:xfrm>
          <a:prstGeom prst="rect">
            <a:avLst/>
          </a:prstGeom>
          <a:solidFill>
            <a:srgbClr val="00A6D6"/>
          </a:solidFill>
          <a:ln>
            <a:solidFill>
              <a:srgbClr val="00A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656832"/>
            <a:ext cx="12191999" cy="201168"/>
          </a:xfrm>
          <a:prstGeom prst="rect">
            <a:avLst/>
          </a:prstGeom>
          <a:solidFill>
            <a:srgbClr val="F7F9FC"/>
          </a:solidFill>
          <a:ln>
            <a:solidFill>
              <a:srgbClr val="F7F9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80" y="6684264"/>
            <a:ext cx="5486400" cy="146304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 fontScale="92500" lnSpcReduction="20000"/>
          </a:bodyPr>
          <a:lstStyle/>
          <a:p>
            <a:pPr algn="l"/>
            <a:r>
              <a:rPr sz="750" b="0">
                <a:solidFill>
                  <a:srgbClr val="697586"/>
                </a:solidFill>
                <a:latin typeface="Aptos"/>
              </a:rPr>
              <a:t>Motor Scoring Crediticio · Arquitectura Hexagonal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684264"/>
            <a:ext cx="1645920" cy="146304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 fontScale="92500" lnSpcReduction="20000"/>
          </a:bodyPr>
          <a:lstStyle/>
          <a:p>
            <a:pPr algn="r"/>
            <a:r>
              <a:rPr sz="750" b="0">
                <a:solidFill>
                  <a:srgbClr val="697586"/>
                </a:solidFill>
                <a:latin typeface="Aptos"/>
              </a:rPr>
              <a:t>Sustentación técnica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371600"/>
            <a:ext cx="4937760" cy="438912"/>
          </a:xfrm>
          <a:prstGeom prst="roundRect">
            <a:avLst/>
          </a:prstGeom>
          <a:solidFill>
            <a:srgbClr val="E7FAFF"/>
          </a:solidFill>
          <a:ln w="15240">
            <a:solidFill>
              <a:srgbClr val="00A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rmAutofit/>
          </a:bodyPr>
          <a:lstStyle/>
          <a:p>
            <a:pPr algn="ctr"/>
            <a:r>
              <a:rPr sz="1300" b="1">
                <a:solidFill>
                  <a:srgbClr val="0B1F3A"/>
                </a:solidFill>
                <a:latin typeface="Aptos"/>
              </a:rPr>
              <a:t>MongoDB / Docker principal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4526280" cy="914400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/>
          </a:bodyPr>
          <a:lstStyle/>
          <a:p>
            <a:pPr algn="l"/>
            <a:r>
              <a:rPr sz="1250" b="0" dirty="0">
                <a:solidFill>
                  <a:srgbClr val="111827"/>
                </a:solidFill>
                <a:latin typeface="Courier New"/>
              </a:rPr>
              <a:t>docker compose up --build -d</a:t>
            </a:r>
            <a:br>
              <a:rPr dirty="0"/>
            </a:br>
            <a:br>
              <a:rPr dirty="0"/>
            </a:br>
            <a:r>
              <a:rPr sz="1250" b="0" dirty="0">
                <a:solidFill>
                  <a:srgbClr val="111827"/>
                </a:solidFill>
                <a:latin typeface="Courier New"/>
              </a:rPr>
              <a:t># </a:t>
            </a:r>
            <a:r>
              <a:rPr sz="1250" b="0" dirty="0" err="1">
                <a:solidFill>
                  <a:srgbClr val="111827"/>
                </a:solidFill>
                <a:latin typeface="Courier New"/>
              </a:rPr>
              <a:t>Usa</a:t>
            </a:r>
            <a:r>
              <a:rPr sz="1250" b="0" dirty="0">
                <a:solidFill>
                  <a:srgbClr val="111827"/>
                </a:solidFill>
                <a:latin typeface="Courier New"/>
              </a:rPr>
              <a:t> docker-</a:t>
            </a:r>
            <a:r>
              <a:rPr sz="1250" b="0" dirty="0" err="1">
                <a:solidFill>
                  <a:srgbClr val="111827"/>
                </a:solidFill>
                <a:latin typeface="Courier New"/>
              </a:rPr>
              <a:t>compose.yml</a:t>
            </a:r>
            <a:br>
              <a:rPr dirty="0"/>
            </a:br>
            <a:r>
              <a:rPr sz="1250" b="0" dirty="0">
                <a:solidFill>
                  <a:srgbClr val="111827"/>
                </a:solidFill>
                <a:latin typeface="Courier New"/>
              </a:rPr>
              <a:t># </a:t>
            </a:r>
            <a:r>
              <a:rPr sz="1250" b="0" dirty="0" err="1">
                <a:solidFill>
                  <a:srgbClr val="111827"/>
                </a:solidFill>
                <a:latin typeface="Courier New"/>
              </a:rPr>
              <a:t>SPRING_PROFILES_ACTIVE</a:t>
            </a:r>
            <a:r>
              <a:rPr sz="1250" b="0" dirty="0">
                <a:solidFill>
                  <a:srgbClr val="111827"/>
                </a:solidFill>
                <a:latin typeface="Courier New"/>
              </a:rPr>
              <a:t>=</a:t>
            </a:r>
            <a:r>
              <a:rPr sz="1250" b="0" dirty="0" err="1">
                <a:solidFill>
                  <a:srgbClr val="111827"/>
                </a:solidFill>
                <a:latin typeface="Courier New"/>
              </a:rPr>
              <a:t>mongodb</a:t>
            </a:r>
            <a:endParaRPr sz="1250" b="0" dirty="0">
              <a:solidFill>
                <a:srgbClr val="111827"/>
              </a:solidFill>
              <a:latin typeface="Courier New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400800" y="1371600"/>
            <a:ext cx="4937760" cy="438912"/>
          </a:xfrm>
          <a:prstGeom prst="roundRect">
            <a:avLst/>
          </a:prstGeom>
          <a:solidFill>
            <a:srgbClr val="F7F9FC"/>
          </a:solidFill>
          <a:ln w="15240">
            <a:solidFill>
              <a:srgbClr val="6975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rmAutofit/>
          </a:bodyPr>
          <a:lstStyle/>
          <a:p>
            <a:pPr algn="ctr"/>
            <a:r>
              <a:rPr sz="1300" b="1">
                <a:solidFill>
                  <a:srgbClr val="0B1F3A"/>
                </a:solidFill>
                <a:latin typeface="Aptos"/>
              </a:rPr>
              <a:t>H2 / Docker alternativo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16752" y="2075688"/>
            <a:ext cx="5934278" cy="10972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/>
          </a:bodyPr>
          <a:lstStyle/>
          <a:p>
            <a:pPr algn="l"/>
            <a:r>
              <a:rPr sz="1150" b="0" dirty="0">
                <a:solidFill>
                  <a:srgbClr val="111827"/>
                </a:solidFill>
                <a:latin typeface="Courier New"/>
              </a:rPr>
              <a:t>docker compose -f backend-java/docker-compose.h2.yml up --build -d</a:t>
            </a:r>
            <a:br>
              <a:rPr dirty="0"/>
            </a:br>
            <a:br>
              <a:rPr dirty="0"/>
            </a:br>
            <a:r>
              <a:rPr sz="1150" b="0" dirty="0">
                <a:solidFill>
                  <a:srgbClr val="111827"/>
                </a:solidFill>
                <a:latin typeface="Courier New"/>
              </a:rPr>
              <a:t># </a:t>
            </a:r>
            <a:r>
              <a:rPr sz="1150" b="0" dirty="0" err="1">
                <a:solidFill>
                  <a:srgbClr val="111827"/>
                </a:solidFill>
                <a:latin typeface="Courier New"/>
              </a:rPr>
              <a:t>SPRING_PROFILES_ACTIVE</a:t>
            </a:r>
            <a:r>
              <a:rPr sz="1150" b="0" dirty="0">
                <a:solidFill>
                  <a:srgbClr val="111827"/>
                </a:solidFill>
                <a:latin typeface="Courier New"/>
              </a:rPr>
              <a:t>=h2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4251960"/>
            <a:ext cx="4937760" cy="438912"/>
          </a:xfrm>
          <a:prstGeom prst="roundRect">
            <a:avLst/>
          </a:prstGeom>
          <a:solidFill>
            <a:srgbClr val="E7FAFF"/>
          </a:solidFill>
          <a:ln w="15240">
            <a:solidFill>
              <a:srgbClr val="00A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rmAutofit/>
          </a:bodyPr>
          <a:lstStyle/>
          <a:p>
            <a:pPr algn="ctr"/>
            <a:r>
              <a:rPr sz="1300" b="1">
                <a:solidFill>
                  <a:srgbClr val="0B1F3A"/>
                </a:solidFill>
                <a:latin typeface="Aptos"/>
              </a:rPr>
              <a:t>Sin Docker: MongoDB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892040"/>
            <a:ext cx="4526280" cy="6400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/>
          </a:bodyPr>
          <a:lstStyle/>
          <a:p>
            <a:pPr algn="l"/>
            <a:r>
              <a:rPr sz="1200" b="0" dirty="0">
                <a:solidFill>
                  <a:srgbClr val="111827"/>
                </a:solidFill>
                <a:latin typeface="Courier New"/>
              </a:rPr>
              <a:t>java -jar motor-scoring-app.jar</a:t>
            </a:r>
            <a:br>
              <a:rPr dirty="0"/>
            </a:br>
            <a:r>
              <a:rPr sz="1200" b="0" dirty="0">
                <a:solidFill>
                  <a:srgbClr val="111827"/>
                </a:solidFill>
                <a:latin typeface="Courier New"/>
              </a:rPr>
              <a:t># </a:t>
            </a:r>
            <a:r>
              <a:rPr sz="1200" b="0" dirty="0" err="1">
                <a:solidFill>
                  <a:srgbClr val="111827"/>
                </a:solidFill>
                <a:latin typeface="Courier New"/>
              </a:rPr>
              <a:t>usa</a:t>
            </a:r>
            <a:r>
              <a:rPr sz="1200" b="0" dirty="0">
                <a:solidFill>
                  <a:srgbClr val="111827"/>
                </a:solidFill>
                <a:latin typeface="Courier New"/>
              </a:rPr>
              <a:t> </a:t>
            </a:r>
            <a:r>
              <a:rPr sz="1200" b="0" dirty="0" err="1">
                <a:solidFill>
                  <a:srgbClr val="111827"/>
                </a:solidFill>
                <a:latin typeface="Courier New"/>
              </a:rPr>
              <a:t>spring.profiles.default</a:t>
            </a:r>
            <a:r>
              <a:rPr sz="1200" b="0" dirty="0">
                <a:solidFill>
                  <a:srgbClr val="111827"/>
                </a:solidFill>
                <a:latin typeface="Courier New"/>
              </a:rPr>
              <a:t>=</a:t>
            </a:r>
            <a:r>
              <a:rPr sz="1200" b="0" dirty="0" err="1">
                <a:solidFill>
                  <a:srgbClr val="111827"/>
                </a:solidFill>
                <a:latin typeface="Courier New"/>
              </a:rPr>
              <a:t>mongodb</a:t>
            </a:r>
            <a:endParaRPr sz="1200" b="0" dirty="0">
              <a:solidFill>
                <a:srgbClr val="111827"/>
              </a:solidFill>
              <a:latin typeface="Courier New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6400800" y="4251960"/>
            <a:ext cx="4937760" cy="438912"/>
          </a:xfrm>
          <a:prstGeom prst="roundRect">
            <a:avLst/>
          </a:prstGeom>
          <a:solidFill>
            <a:srgbClr val="FFF3D8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rmAutofit/>
          </a:bodyPr>
          <a:lstStyle/>
          <a:p>
            <a:pPr algn="ctr"/>
            <a:r>
              <a:rPr sz="1300" b="1">
                <a:solidFill>
                  <a:srgbClr val="0B1F3A"/>
                </a:solidFill>
                <a:latin typeface="Aptos"/>
              </a:rPr>
              <a:t>Sin Docker: H2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7776" y="4983480"/>
            <a:ext cx="5608320" cy="457200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/>
          </a:bodyPr>
          <a:lstStyle/>
          <a:p>
            <a:pPr algn="l"/>
            <a:r>
              <a:rPr sz="1150" b="0" dirty="0">
                <a:solidFill>
                  <a:srgbClr val="111827"/>
                </a:solidFill>
                <a:latin typeface="Courier New"/>
              </a:rPr>
              <a:t>java -jar motor-scoring-app.jar --</a:t>
            </a:r>
            <a:r>
              <a:rPr sz="1150" b="0" dirty="0" err="1">
                <a:solidFill>
                  <a:srgbClr val="111827"/>
                </a:solidFill>
                <a:latin typeface="Courier New"/>
              </a:rPr>
              <a:t>spring.profiles.active</a:t>
            </a:r>
            <a:r>
              <a:rPr sz="1150" b="0" dirty="0">
                <a:solidFill>
                  <a:srgbClr val="111827"/>
                </a:solidFill>
                <a:latin typeface="Courier New"/>
              </a:rPr>
              <a:t>=h2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 fontScale="92500" lnSpcReduction="20000"/>
          </a:bodyPr>
          <a:lstStyle/>
          <a:p>
            <a:pPr algn="l"/>
            <a:r>
              <a:rPr sz="2800" b="1" dirty="0">
                <a:solidFill>
                  <a:srgbClr val="0B1F3A"/>
                </a:solidFill>
                <a:latin typeface="Aptos Display"/>
              </a:rPr>
              <a:t>Spring relaxed binding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972800" cy="2743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/>
          </a:bodyPr>
          <a:lstStyle/>
          <a:p>
            <a:pPr algn="l"/>
            <a:r>
              <a:rPr sz="1300" b="0">
                <a:solidFill>
                  <a:srgbClr val="697586"/>
                </a:solidFill>
                <a:latin typeface="Aptos"/>
              </a:rPr>
              <a:t>Docker pasa una variable; Spring la interpreta como propiedad.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73152"/>
          </a:xfrm>
          <a:prstGeom prst="rect">
            <a:avLst/>
          </a:prstGeom>
          <a:solidFill>
            <a:srgbClr val="00A6D6"/>
          </a:solidFill>
          <a:ln>
            <a:solidFill>
              <a:srgbClr val="00A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656832"/>
            <a:ext cx="12191999" cy="201168"/>
          </a:xfrm>
          <a:prstGeom prst="rect">
            <a:avLst/>
          </a:prstGeom>
          <a:solidFill>
            <a:srgbClr val="F7F9FC"/>
          </a:solidFill>
          <a:ln>
            <a:solidFill>
              <a:srgbClr val="F7F9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80" y="6684264"/>
            <a:ext cx="5486400" cy="146304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 fontScale="92500" lnSpcReduction="20000"/>
          </a:bodyPr>
          <a:lstStyle/>
          <a:p>
            <a:pPr algn="l"/>
            <a:r>
              <a:rPr sz="750" b="0">
                <a:solidFill>
                  <a:srgbClr val="697586"/>
                </a:solidFill>
                <a:latin typeface="Aptos"/>
              </a:rPr>
              <a:t>Motor Scoring Crediticio · Arquitectura Hexagonal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684264"/>
            <a:ext cx="1645920" cy="146304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 fontScale="92500" lnSpcReduction="20000"/>
          </a:bodyPr>
          <a:lstStyle/>
          <a:p>
            <a:pPr algn="r"/>
            <a:r>
              <a:rPr sz="750" b="0">
                <a:solidFill>
                  <a:srgbClr val="697586"/>
                </a:solidFill>
                <a:latin typeface="Aptos"/>
              </a:rPr>
              <a:t>Sustentación técnica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417320"/>
            <a:ext cx="2743200" cy="457200"/>
          </a:xfrm>
          <a:prstGeom prst="roundRect">
            <a:avLst/>
          </a:prstGeom>
          <a:solidFill>
            <a:srgbClr val="F7F9FC"/>
          </a:solidFill>
          <a:ln w="15240">
            <a:solidFill>
              <a:srgbClr val="6975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rmAutofit/>
          </a:bodyPr>
          <a:lstStyle/>
          <a:p>
            <a:pPr algn="ctr"/>
            <a:r>
              <a:rPr sz="1300" b="1">
                <a:solidFill>
                  <a:srgbClr val="0B1F3A"/>
                </a:solidFill>
                <a:latin typeface="Aptos"/>
              </a:rPr>
              <a:t>Docker Compose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2514600" cy="6400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 fontScale="92500"/>
          </a:bodyPr>
          <a:lstStyle/>
          <a:p>
            <a:pPr algn="l"/>
            <a:r>
              <a:rPr sz="1300" b="0">
                <a:solidFill>
                  <a:srgbClr val="111827"/>
                </a:solidFill>
                <a:latin typeface="Courier New"/>
              </a:rPr>
              <a:t>environment:</a:t>
            </a:r>
            <a:br/>
            <a:r>
              <a:rPr sz="1300" b="0">
                <a:solidFill>
                  <a:srgbClr val="111827"/>
                </a:solidFill>
                <a:latin typeface="Courier New"/>
              </a:rPr>
              <a:t>  SPRING_PROFILES_ACTIVE: h2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703320" y="2331720"/>
            <a:ext cx="1097280" cy="0"/>
          </a:xfrm>
          <a:prstGeom prst="line">
            <a:avLst/>
          </a:prstGeom>
          <a:ln w="22860">
            <a:solidFill>
              <a:srgbClr val="6975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892040" y="1417320"/>
            <a:ext cx="2743200" cy="457200"/>
          </a:xfrm>
          <a:prstGeom prst="roundRect">
            <a:avLst/>
          </a:prstGeom>
          <a:solidFill>
            <a:srgbClr val="E8F2FF"/>
          </a:solidFill>
          <a:ln w="15240">
            <a:solidFill>
              <a:srgbClr val="1F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rmAutofit/>
          </a:bodyPr>
          <a:lstStyle/>
          <a:p>
            <a:pPr algn="ctr"/>
            <a:r>
              <a:rPr sz="1300" b="1">
                <a:solidFill>
                  <a:srgbClr val="0B1F3A"/>
                </a:solidFill>
                <a:latin typeface="Aptos"/>
              </a:rPr>
              <a:t>Spring Boot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74920" y="2011680"/>
            <a:ext cx="2377440" cy="6400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 lnSpcReduction="10000"/>
          </a:bodyPr>
          <a:lstStyle/>
          <a:p>
            <a:pPr algn="l"/>
            <a:r>
              <a:rPr sz="1300" b="0" dirty="0" err="1">
                <a:solidFill>
                  <a:srgbClr val="111827"/>
                </a:solidFill>
                <a:latin typeface="Courier New"/>
              </a:rPr>
              <a:t>SPRING_PROFILES_ACTIVE</a:t>
            </a:r>
            <a:br>
              <a:rPr dirty="0"/>
            </a:br>
            <a:r>
              <a:rPr sz="1300" b="0" dirty="0">
                <a:solidFill>
                  <a:srgbClr val="111827"/>
                </a:solidFill>
                <a:latin typeface="Courier New"/>
              </a:rPr>
              <a:t>→ </a:t>
            </a:r>
            <a:r>
              <a:rPr sz="1300" b="0" dirty="0" err="1">
                <a:solidFill>
                  <a:srgbClr val="111827"/>
                </a:solidFill>
                <a:latin typeface="Courier New"/>
              </a:rPr>
              <a:t>spring.profiles.active</a:t>
            </a:r>
            <a:endParaRPr sz="1300" b="0" dirty="0">
              <a:solidFill>
                <a:srgbClr val="111827"/>
              </a:solidFill>
              <a:latin typeface="Courier New"/>
            </a:endParaRPr>
          </a:p>
        </p:txBody>
      </p:sp>
      <p:cxnSp>
        <p:nvCxnSpPr>
          <p:cNvPr id="13" name="Connector 12"/>
          <p:cNvCxnSpPr/>
          <p:nvPr/>
        </p:nvCxnSpPr>
        <p:spPr>
          <a:xfrm>
            <a:off x="7818120" y="2331720"/>
            <a:ext cx="1097280" cy="0"/>
          </a:xfrm>
          <a:prstGeom prst="line">
            <a:avLst/>
          </a:prstGeom>
          <a:ln w="22860">
            <a:solidFill>
              <a:srgbClr val="6975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9006840" y="1417320"/>
            <a:ext cx="2468880" cy="457200"/>
          </a:xfrm>
          <a:prstGeom prst="roundRect">
            <a:avLst/>
          </a:prstGeom>
          <a:solidFill>
            <a:srgbClr val="FFF3D8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rmAutofit/>
          </a:bodyPr>
          <a:lstStyle/>
          <a:p>
            <a:pPr algn="ctr"/>
            <a:r>
              <a:rPr sz="1300" b="1">
                <a:solidFill>
                  <a:srgbClr val="0B1F3A"/>
                </a:solidFill>
                <a:latin typeface="Aptos"/>
              </a:rPr>
              <a:t>Profile activo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89720" y="2011680"/>
            <a:ext cx="2148840" cy="685800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/>
          </a:bodyPr>
          <a:lstStyle/>
          <a:p>
            <a:pPr algn="l"/>
            <a:r>
              <a:rPr sz="1300" b="0">
                <a:solidFill>
                  <a:srgbClr val="111827"/>
                </a:solidFill>
                <a:latin typeface="Courier New"/>
              </a:rPr>
              <a:t>h2</a:t>
            </a:r>
            <a:br/>
            <a:r>
              <a:rPr sz="1300" b="0">
                <a:solidFill>
                  <a:srgbClr val="111827"/>
                </a:solidFill>
                <a:latin typeface="Courier New"/>
              </a:rPr>
              <a:t>→ application-h2.yml</a:t>
            </a:r>
            <a:br/>
            <a:r>
              <a:rPr sz="1300" b="0">
                <a:solidFill>
                  <a:srgbClr val="111827"/>
                </a:solidFill>
                <a:latin typeface="Courier New"/>
              </a:rPr>
              <a:t>→ @Profile("h2")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88720" y="3886200"/>
            <a:ext cx="9784080" cy="502920"/>
          </a:xfrm>
          <a:prstGeom prst="roundRect">
            <a:avLst/>
          </a:prstGeom>
          <a:solidFill>
            <a:srgbClr val="E8F7EF"/>
          </a:solidFill>
          <a:ln w="15240">
            <a:solidFill>
              <a:srgbClr val="1B8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rmAutofit/>
          </a:bodyPr>
          <a:lstStyle/>
          <a:p>
            <a:pPr algn="ctr"/>
            <a:r>
              <a:rPr sz="1500" b="1">
                <a:solidFill>
                  <a:srgbClr val="0B1F3A"/>
                </a:solidFill>
                <a:latin typeface="Aptos"/>
              </a:rPr>
              <a:t>Regla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4617720"/>
            <a:ext cx="8961120" cy="292608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 fontScale="92500" lnSpcReduction="10000"/>
          </a:bodyPr>
          <a:lstStyle/>
          <a:p>
            <a:pPr algn="ctr"/>
            <a:r>
              <a:rPr sz="1800" b="1">
                <a:solidFill>
                  <a:srgbClr val="0B1F3A"/>
                </a:solidFill>
                <a:latin typeface="Aptos"/>
              </a:rPr>
              <a:t>MAYÚSCULAS + guiones bajos  →  minúsculas + puntos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00200" y="5074920"/>
            <a:ext cx="8961120" cy="292608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 fontScale="92500" lnSpcReduction="10000"/>
          </a:bodyPr>
          <a:lstStyle/>
          <a:p>
            <a:pPr algn="ctr"/>
            <a:r>
              <a:rPr sz="1800" b="1" dirty="0" err="1">
                <a:solidFill>
                  <a:srgbClr val="00A6D6"/>
                </a:solidFill>
                <a:latin typeface="Aptos"/>
              </a:rPr>
              <a:t>SPRING_PROFILES_ACTIVE</a:t>
            </a:r>
            <a:r>
              <a:rPr sz="1800" b="1" dirty="0">
                <a:solidFill>
                  <a:srgbClr val="00A6D6"/>
                </a:solidFill>
                <a:latin typeface="Aptos"/>
              </a:rPr>
              <a:t>  →  </a:t>
            </a:r>
            <a:r>
              <a:rPr sz="1800" b="1" dirty="0" err="1">
                <a:solidFill>
                  <a:srgbClr val="00A6D6"/>
                </a:solidFill>
                <a:latin typeface="Aptos"/>
              </a:rPr>
              <a:t>spring.profiles.active</a:t>
            </a:r>
            <a:endParaRPr sz="1800" b="1" dirty="0">
              <a:solidFill>
                <a:srgbClr val="00A6D6"/>
              </a:solidFill>
              <a:latin typeface="Apto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011680" y="5715000"/>
            <a:ext cx="8138160" cy="320040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/>
          </a:bodyPr>
          <a:lstStyle/>
          <a:p>
            <a:pPr algn="ctr"/>
            <a:r>
              <a:rPr sz="1250" b="0">
                <a:solidFill>
                  <a:srgbClr val="697586"/>
                </a:solidFill>
                <a:latin typeface="Aptos"/>
              </a:rPr>
              <a:t>Nota: si existe spring.profiles.active, tiene prioridad sobre spring.profiles.default=mongodb.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</TotalTime>
  <Words>2978</Words>
  <Application>Microsoft Office PowerPoint</Application>
  <PresentationFormat>Panorámica</PresentationFormat>
  <Paragraphs>562</Paragraphs>
  <Slides>35</Slides>
  <Notes>27</Notes>
  <HiddenSlides>0</HiddenSlides>
  <MMClips>0</MMClips>
  <ScaleCrop>false</ScaleCrop>
  <HeadingPairs>
    <vt:vector size="6" baseType="variant">
      <vt:variant>
        <vt:lpstr>Fuentes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35</vt:i4>
      </vt:variant>
    </vt:vector>
  </HeadingPairs>
  <TitlesOfParts>
    <vt:vector size="44" baseType="lpstr">
      <vt:lpstr>Aptos</vt:lpstr>
      <vt:lpstr>Aptos Display</vt:lpstr>
      <vt:lpstr>Aptos Mono</vt:lpstr>
      <vt:lpstr>Arial</vt:lpstr>
      <vt:lpstr>Calibri</vt:lpstr>
      <vt:lpstr>Cambria</vt:lpstr>
      <vt:lpstr>Consolas</vt:lpstr>
      <vt:lpstr>Courier New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Motor de Scoring Crediticio</dc:title>
  <dc:subject>Motor de Scoring Crediticio</dc:subject>
  <dc:creator>t51922</dc:creator>
  <cp:lastModifiedBy>antonio</cp:lastModifiedBy>
  <cp:revision>19</cp:revision>
  <dcterms:created xsi:type="dcterms:W3CDTF">2026-08-01T04:00:22Z</dcterms:created>
  <dcterms:modified xsi:type="dcterms:W3CDTF">2026-08-06T01:41:50Z</dcterms:modified>
</cp:coreProperties>
</file>